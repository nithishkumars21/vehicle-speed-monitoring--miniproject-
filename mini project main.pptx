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20"/>
  </p:notesMasterIdLst>
  <p:handoutMasterIdLst>
    <p:handoutMasterId r:id="rId21"/>
  </p:handoutMasterIdLst>
  <p:sldIdLst>
    <p:sldId id="256" r:id="rId2"/>
    <p:sldId id="347" r:id="rId3"/>
    <p:sldId id="348" r:id="rId4"/>
    <p:sldId id="349" r:id="rId5"/>
    <p:sldId id="356" r:id="rId6"/>
    <p:sldId id="369" r:id="rId7"/>
    <p:sldId id="361" r:id="rId8"/>
    <p:sldId id="350" r:id="rId9"/>
    <p:sldId id="366" r:id="rId10"/>
    <p:sldId id="358" r:id="rId11"/>
    <p:sldId id="363" r:id="rId12"/>
    <p:sldId id="364" r:id="rId13"/>
    <p:sldId id="353" r:id="rId14"/>
    <p:sldId id="354" r:id="rId15"/>
    <p:sldId id="357" r:id="rId16"/>
    <p:sldId id="351" r:id="rId17"/>
    <p:sldId id="368" r:id="rId18"/>
    <p:sldId id="360"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B9D9"/>
    <a:srgbClr val="FFFF99"/>
    <a:srgbClr val="FFFF66"/>
    <a:srgbClr val="96B8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7" autoAdjust="0"/>
    <p:restoredTop sz="94624" autoAdjust="0"/>
  </p:normalViewPr>
  <p:slideViewPr>
    <p:cSldViewPr snapToGrid="0" showGuides="1">
      <p:cViewPr varScale="1">
        <p:scale>
          <a:sx n="93" d="100"/>
          <a:sy n="93" d="100"/>
        </p:scale>
        <p:origin x="726" y="9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BAA75-FEA1-415B-ADEB-E61961CF21E2}" type="datetimeFigureOut">
              <a:rPr lang="en-US" smtClean="0"/>
              <a:pPr/>
              <a:t>7/17/2026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CE23D1005 Monthly Presentation 1</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34F975-11FD-49CB-9215-F4F8867AA56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BCAD085-E8A6-8845-BD4E-CB4CCA059FC4}" type="datetimeFigureOut">
              <a:rPr lang="en-US" smtClean="0"/>
              <a:pPr/>
              <a:t>7/17/2026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alphaModFix amt="0"/>
            <a:lum/>
          </a:blip>
          <a:srcRect/>
          <a:stretch>
            <a:fillRect t="-39000" b="-39000"/>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www.mdpi.com/journal/sensors" TargetMode="External"/><Relationship Id="rId2" Type="http://schemas.openxmlformats.org/officeDocument/2006/relationships/hyperlink" Target="https://ieeexplore.ieee.org/" TargetMode="Externa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westerntransportationinstitute.org/"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Shape 53"/>
        <p:cNvGrpSpPr/>
        <p:nvPr/>
      </p:nvGrpSpPr>
      <p:grpSpPr>
        <a:xfrm>
          <a:off x="0" y="0"/>
          <a:ext cx="0" cy="0"/>
          <a:chOff x="0" y="0"/>
          <a:chExt cx="0" cy="0"/>
        </a:xfrm>
      </p:grpSpPr>
      <p:sp>
        <p:nvSpPr>
          <p:cNvPr id="6" name="Rectangle 5"/>
          <p:cNvSpPr/>
          <p:nvPr/>
        </p:nvSpPr>
        <p:spPr>
          <a:xfrm>
            <a:off x="460375" y="2038985"/>
            <a:ext cx="8476615" cy="688975"/>
          </a:xfrm>
          <a:prstGeom prst="rect">
            <a:avLst/>
          </a:prstGeom>
          <a:solidFill>
            <a:schemeClr val="bg1"/>
          </a:solidFill>
          <a:effectLst>
            <a:glow rad="228600">
              <a:schemeClr val="accent6">
                <a:satMod val="175000"/>
                <a:alpha val="40000"/>
              </a:schemeClr>
            </a:glow>
            <a:outerShdw blurRad="40000" dist="20000" dir="5400000" rotWithShape="0">
              <a:srgbClr val="000000">
                <a:alpha val="38000"/>
              </a:srgb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en-US" sz="2300" b="1" dirty="0">
                <a:solidFill>
                  <a:srgbClr val="C00000"/>
                </a:solidFill>
                <a:latin typeface="Book Antiqua" panose="02040602050305030304" pitchFamily="18" charset="0"/>
              </a:rPr>
              <a:t>Vehicle Speed Monitoring and Wildlife Protection System in Forest Areas</a:t>
            </a:r>
            <a:endParaRPr lang="en-IN" sz="2300" b="1" dirty="0">
              <a:solidFill>
                <a:srgbClr val="C00000"/>
              </a:solidFill>
              <a:latin typeface="Book Antiqua" panose="02040602050305030304" pitchFamily="18" charset="0"/>
            </a:endParaRPr>
          </a:p>
        </p:txBody>
      </p:sp>
      <p:sp>
        <p:nvSpPr>
          <p:cNvPr id="7" name="TextBox 6"/>
          <p:cNvSpPr txBox="1"/>
          <p:nvPr/>
        </p:nvSpPr>
        <p:spPr>
          <a:xfrm>
            <a:off x="793742" y="0"/>
            <a:ext cx="7809929" cy="1216487"/>
          </a:xfrm>
          <a:prstGeom prst="rect">
            <a:avLst/>
          </a:prstGeom>
          <a:noFill/>
        </p:spPr>
        <p:txBody>
          <a:bodyPr wrap="square">
            <a:spAutoFit/>
          </a:bodyPr>
          <a:lstStyle/>
          <a:p>
            <a:pPr indent="180340" algn="ctr">
              <a:lnSpc>
                <a:spcPct val="115000"/>
              </a:lnSpc>
              <a:spcBef>
                <a:spcPts val="900"/>
              </a:spcBef>
              <a:spcAft>
                <a:spcPts val="300"/>
              </a:spcAft>
            </a:pPr>
            <a:r>
              <a:rPr lang="en-IN" sz="2400" b="1" dirty="0">
                <a:latin typeface="Book Antiqua" panose="02040602050305030304" pitchFamily="18" charset="0"/>
                <a:ea typeface="Calibri" panose="020F0502020204030204"/>
                <a:cs typeface="Times New Roman" panose="02020603050405020304"/>
              </a:rPr>
              <a:t>E.G.S. Pillay Engineering College</a:t>
            </a:r>
          </a:p>
          <a:p>
            <a:pPr indent="270510" algn="ctr">
              <a:lnSpc>
                <a:spcPct val="115000"/>
              </a:lnSpc>
              <a:spcAft>
                <a:spcPts val="300"/>
              </a:spcAft>
            </a:pPr>
            <a:r>
              <a:rPr lang="en-IN" sz="1100" dirty="0">
                <a:latin typeface="Book Antiqua" panose="02040602050305030304" pitchFamily="18" charset="0"/>
                <a:ea typeface="Calibri" panose="020F0502020204030204"/>
                <a:cs typeface="Times New Roman" panose="02020603050405020304"/>
              </a:rPr>
              <a:t>An Autonomous Institution Affiliated to Anna University, Chennai | Approved by AICTE, New Delhi</a:t>
            </a:r>
            <a:endParaRPr lang="en-US" sz="1600" dirty="0">
              <a:latin typeface="Book Antiqua" panose="02040602050305030304" pitchFamily="18" charset="0"/>
              <a:ea typeface="Calibri" panose="020F0502020204030204"/>
              <a:cs typeface="Times New Roman" panose="02020603050405020304"/>
            </a:endParaRPr>
          </a:p>
          <a:p>
            <a:pPr indent="270510" algn="ctr">
              <a:lnSpc>
                <a:spcPct val="115000"/>
              </a:lnSpc>
              <a:spcAft>
                <a:spcPts val="300"/>
              </a:spcAft>
            </a:pPr>
            <a:r>
              <a:rPr lang="en-IN" sz="1100" dirty="0">
                <a:latin typeface="Book Antiqua" panose="02040602050305030304" pitchFamily="18" charset="0"/>
                <a:ea typeface="Calibri" panose="020F0502020204030204"/>
                <a:cs typeface="Times New Roman" panose="02020603050405020304"/>
              </a:rPr>
              <a:t>Accredited by NAAC with A++ Grade | Accredited by NBA T1 (B.E. – CIVIL,MECH,EEE,CSE,ECE &amp; </a:t>
            </a:r>
            <a:r>
              <a:rPr lang="en-IN" sz="1100" dirty="0" err="1">
                <a:latin typeface="Book Antiqua" panose="02040602050305030304" pitchFamily="18" charset="0"/>
                <a:ea typeface="Calibri" panose="020F0502020204030204"/>
                <a:cs typeface="Times New Roman" panose="02020603050405020304"/>
              </a:rPr>
              <a:t>B.Tech</a:t>
            </a:r>
            <a:r>
              <a:rPr lang="en-IN" sz="1100" dirty="0">
                <a:latin typeface="Book Antiqua" panose="02040602050305030304" pitchFamily="18" charset="0"/>
                <a:ea typeface="Calibri" panose="020F0502020204030204"/>
                <a:cs typeface="Times New Roman" panose="02020603050405020304"/>
              </a:rPr>
              <a:t> – IT)</a:t>
            </a:r>
            <a:endParaRPr lang="en-US" sz="1600" dirty="0">
              <a:latin typeface="Book Antiqua" panose="02040602050305030304" pitchFamily="18" charset="0"/>
              <a:ea typeface="Calibri" panose="020F0502020204030204"/>
              <a:cs typeface="Times New Roman" panose="02020603050405020304"/>
            </a:endParaRPr>
          </a:p>
          <a:p>
            <a:pPr indent="270510" algn="ctr">
              <a:lnSpc>
                <a:spcPct val="115000"/>
              </a:lnSpc>
              <a:spcAft>
                <a:spcPts val="300"/>
              </a:spcAft>
            </a:pPr>
            <a:r>
              <a:rPr lang="en-IN" sz="1100" dirty="0">
                <a:latin typeface="Book Antiqua" panose="02040602050305030304" pitchFamily="18" charset="0"/>
                <a:ea typeface="Calibri" panose="020F0502020204030204"/>
                <a:cs typeface="Times New Roman" panose="02020603050405020304"/>
              </a:rPr>
              <a:t>Old </a:t>
            </a:r>
            <a:r>
              <a:rPr lang="en-IN" sz="1100" dirty="0" err="1">
                <a:latin typeface="Book Antiqua" panose="02040602050305030304" pitchFamily="18" charset="0"/>
                <a:ea typeface="Calibri" panose="020F0502020204030204"/>
                <a:cs typeface="Times New Roman" panose="02020603050405020304"/>
              </a:rPr>
              <a:t>Nagore</a:t>
            </a:r>
            <a:r>
              <a:rPr lang="en-IN" sz="1100" dirty="0">
                <a:latin typeface="Book Antiqua" panose="02040602050305030304" pitchFamily="18" charset="0"/>
                <a:ea typeface="Calibri" panose="020F0502020204030204"/>
                <a:cs typeface="Times New Roman" panose="02020603050405020304"/>
              </a:rPr>
              <a:t> Road, </a:t>
            </a:r>
            <a:r>
              <a:rPr lang="en-IN" sz="1100" dirty="0" err="1">
                <a:latin typeface="Book Antiqua" panose="02040602050305030304" pitchFamily="18" charset="0"/>
                <a:ea typeface="Calibri" panose="020F0502020204030204"/>
                <a:cs typeface="Times New Roman" panose="02020603050405020304"/>
              </a:rPr>
              <a:t>Thethi</a:t>
            </a:r>
            <a:r>
              <a:rPr lang="en-IN" sz="1100" dirty="0">
                <a:latin typeface="Book Antiqua" panose="02040602050305030304" pitchFamily="18" charset="0"/>
                <a:ea typeface="Calibri" panose="020F0502020204030204"/>
                <a:cs typeface="Times New Roman" panose="02020603050405020304"/>
              </a:rPr>
              <a:t>, </a:t>
            </a:r>
            <a:r>
              <a:rPr lang="en-IN" sz="1100" dirty="0" err="1">
                <a:latin typeface="Book Antiqua" panose="02040602050305030304" pitchFamily="18" charset="0"/>
                <a:ea typeface="Calibri" panose="020F0502020204030204"/>
                <a:cs typeface="Times New Roman" panose="02020603050405020304"/>
              </a:rPr>
              <a:t>Nagore</a:t>
            </a:r>
            <a:r>
              <a:rPr lang="en-IN" sz="1100" dirty="0">
                <a:latin typeface="Book Antiqua" panose="02040602050305030304" pitchFamily="18" charset="0"/>
                <a:ea typeface="Calibri" panose="020F0502020204030204"/>
                <a:cs typeface="Times New Roman" panose="02020603050405020304"/>
              </a:rPr>
              <a:t> Village, </a:t>
            </a:r>
            <a:r>
              <a:rPr lang="en-IN" sz="1100" dirty="0" err="1">
                <a:latin typeface="Book Antiqua" panose="02040602050305030304" pitchFamily="18" charset="0"/>
                <a:ea typeface="Calibri" panose="020F0502020204030204"/>
                <a:cs typeface="Times New Roman" panose="02020603050405020304"/>
              </a:rPr>
              <a:t>Nagapattinam</a:t>
            </a:r>
            <a:r>
              <a:rPr lang="en-IN" sz="1100" dirty="0">
                <a:latin typeface="Book Antiqua" panose="02040602050305030304" pitchFamily="18" charset="0"/>
                <a:ea typeface="Calibri" panose="020F0502020204030204"/>
                <a:cs typeface="Times New Roman" panose="02020603050405020304"/>
              </a:rPr>
              <a:t> – 611002, Tamil Nadu, India</a:t>
            </a:r>
            <a:endParaRPr lang="en-US" sz="1600" dirty="0">
              <a:latin typeface="Book Antiqua" panose="02040602050305030304" pitchFamily="18" charset="0"/>
              <a:ea typeface="Calibri" panose="020F0502020204030204"/>
              <a:cs typeface="Times New Roman" panose="02020603050405020304"/>
            </a:endParaRPr>
          </a:p>
        </p:txBody>
      </p:sp>
      <p:sp>
        <p:nvSpPr>
          <p:cNvPr id="9" name="Rectangle: Rounded Corners 8"/>
          <p:cNvSpPr/>
          <p:nvPr/>
        </p:nvSpPr>
        <p:spPr>
          <a:xfrm>
            <a:off x="2005293" y="3339963"/>
            <a:ext cx="5724245" cy="1714922"/>
          </a:xfrm>
          <a:prstGeom prst="roundRect">
            <a:avLst>
              <a:gd name="adj" fmla="val 17674"/>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ctr">
              <a:lnSpc>
                <a:spcPct val="95000"/>
              </a:lnSpc>
              <a:spcBef>
                <a:spcPts val="500"/>
              </a:spcBef>
              <a:buClr>
                <a:schemeClr val="dk1"/>
              </a:buClr>
              <a:buSzPts val="852"/>
            </a:pPr>
            <a:r>
              <a:rPr lang="en-US" sz="1400" dirty="0">
                <a:solidFill>
                  <a:schemeClr val="tx1"/>
                </a:solidFill>
                <a:latin typeface="Book Antiqua" panose="02040602050305030304" pitchFamily="18" charset="0"/>
                <a:cs typeface="Times New Roman" panose="02020603050405020304" pitchFamily="18" charset="0"/>
              </a:rPr>
              <a:t>Presented by,</a:t>
            </a:r>
          </a:p>
          <a:p>
            <a:pPr algn="just">
              <a:lnSpc>
                <a:spcPct val="95000"/>
              </a:lnSpc>
              <a:spcBef>
                <a:spcPts val="500"/>
              </a:spcBef>
              <a:buClr>
                <a:schemeClr val="dk1"/>
              </a:buClr>
              <a:buSzPts val="852"/>
            </a:pPr>
            <a:r>
              <a:rPr lang="en-US" altLang="en-IN" sz="1200" dirty="0"/>
              <a:t>                     S. NITHISHKUMAR(8208E23ECR064)</a:t>
            </a:r>
          </a:p>
          <a:p>
            <a:pPr algn="just">
              <a:lnSpc>
                <a:spcPct val="95000"/>
              </a:lnSpc>
              <a:spcBef>
                <a:spcPts val="500"/>
              </a:spcBef>
              <a:buClr>
                <a:schemeClr val="dk1"/>
              </a:buClr>
              <a:buSzPts val="852"/>
            </a:pPr>
            <a:r>
              <a:rPr lang="en-US" altLang="en-IN" sz="1200" dirty="0"/>
              <a:t>                     P. SRIRAM(8208E23ECR104)</a:t>
            </a:r>
          </a:p>
          <a:p>
            <a:pPr algn="just">
              <a:lnSpc>
                <a:spcPct val="95000"/>
              </a:lnSpc>
              <a:spcBef>
                <a:spcPts val="500"/>
              </a:spcBef>
              <a:buClr>
                <a:schemeClr val="dk1"/>
              </a:buClr>
              <a:buSzPts val="852"/>
            </a:pPr>
            <a:r>
              <a:rPr lang="en-US" altLang="en-IN" sz="1200" dirty="0"/>
              <a:t>                     M. SRITHARAN(8208E23ECR105)</a:t>
            </a:r>
          </a:p>
          <a:p>
            <a:pPr algn="just">
              <a:lnSpc>
                <a:spcPct val="95000"/>
              </a:lnSpc>
              <a:spcBef>
                <a:spcPts val="500"/>
              </a:spcBef>
              <a:buClr>
                <a:schemeClr val="dk1"/>
              </a:buClr>
              <a:buSzPts val="852"/>
            </a:pPr>
            <a:r>
              <a:rPr lang="en-US" altLang="en-IN" sz="1200" dirty="0"/>
              <a:t>                     N. THIRUMURUGAN(8208E23ECR114)</a:t>
            </a:r>
          </a:p>
          <a:p>
            <a:pPr algn="just">
              <a:lnSpc>
                <a:spcPct val="95000"/>
              </a:lnSpc>
              <a:spcBef>
                <a:spcPts val="500"/>
              </a:spcBef>
              <a:buClr>
                <a:schemeClr val="dk1"/>
              </a:buClr>
              <a:buSzPts val="852"/>
            </a:pPr>
            <a:r>
              <a:rPr lang="en-US" altLang="en-IN" sz="1200" dirty="0"/>
              <a:t>                                             Guided by,</a:t>
            </a:r>
          </a:p>
          <a:p>
            <a:pPr algn="just">
              <a:lnSpc>
                <a:spcPct val="95000"/>
              </a:lnSpc>
              <a:spcBef>
                <a:spcPts val="500"/>
              </a:spcBef>
              <a:buClr>
                <a:schemeClr val="dk1"/>
              </a:buClr>
              <a:buSzPts val="852"/>
            </a:pPr>
            <a:r>
              <a:rPr lang="en-US" altLang="en-IN" sz="1200" dirty="0"/>
              <a:t>                              Mrs.S.VETRISELVI,M.Tech.,</a:t>
            </a:r>
            <a:r>
              <a:rPr lang="en-US" altLang="en-IN" sz="1200" dirty="0" err="1"/>
              <a:t>ph.D</a:t>
            </a:r>
            <a:r>
              <a:rPr lang="en-US" altLang="en-IN" sz="1200" dirty="0"/>
              <a:t>.</a:t>
            </a:r>
          </a:p>
        </p:txBody>
      </p:sp>
      <p:pic>
        <p:nvPicPr>
          <p:cNvPr id="66561" name="Picture 1" descr="https://encrypted-tbn0.gstatic.com/images?q=tbn:ANd9GcQdAoy8HAYiGwgqBMeq0EtfxKBc5i9totR_W7yOXHEosxAvJ3u6k6r7MVNRo_M3U1QAJMc&amp;usqp=CAU"/>
          <p:cNvPicPr>
            <a:picLocks noChangeAspect="1" noChangeArrowheads="1"/>
          </p:cNvPicPr>
          <p:nvPr/>
        </p:nvPicPr>
        <p:blipFill>
          <a:blip r:embed="rId3"/>
          <a:srcRect/>
          <a:stretch>
            <a:fillRect/>
          </a:stretch>
        </p:blipFill>
        <p:spPr bwMode="auto">
          <a:xfrm>
            <a:off x="0" y="0"/>
            <a:ext cx="924791" cy="1079789"/>
          </a:xfrm>
          <a:prstGeom prst="rect">
            <a:avLst/>
          </a:prstGeom>
          <a:noFill/>
        </p:spPr>
      </p:pic>
      <p:sp>
        <p:nvSpPr>
          <p:cNvPr id="10" name="Google Shape;56;p1"/>
          <p:cNvSpPr/>
          <p:nvPr/>
        </p:nvSpPr>
        <p:spPr>
          <a:xfrm>
            <a:off x="2716447" y="2958189"/>
            <a:ext cx="3712875" cy="52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dirty="0">
                <a:solidFill>
                  <a:srgbClr val="C00000"/>
                </a:solidFill>
                <a:latin typeface="Book Antiqua" panose="02040602050305030304"/>
                <a:ea typeface="Book Antiqua" panose="02040602050305030304"/>
                <a:cs typeface="Book Antiqua" panose="02040602050305030304"/>
                <a:sym typeface="Book Antiqua" panose="02040602050305030304"/>
              </a:rPr>
              <a:t>Date&amp; Session : </a:t>
            </a:r>
            <a:r>
              <a:rPr lang="en-US" b="1" dirty="0">
                <a:solidFill>
                  <a:srgbClr val="C00000"/>
                </a:solidFill>
                <a:latin typeface="Book Antiqua" panose="02040602050305030304"/>
                <a:ea typeface="Book Antiqua" panose="02040602050305030304"/>
                <a:cs typeface="Book Antiqua" panose="02040602050305030304"/>
                <a:sym typeface="Book Antiqua" panose="02040602050305030304"/>
              </a:rPr>
              <a:t>30</a:t>
            </a:r>
            <a:r>
              <a:rPr lang="en-US" sz="1400" b="1" i="0" u="none" strike="noStrike" cap="none" dirty="0">
                <a:solidFill>
                  <a:srgbClr val="C00000"/>
                </a:solidFill>
                <a:latin typeface="Book Antiqua" panose="02040602050305030304"/>
                <a:ea typeface="Book Antiqua" panose="02040602050305030304"/>
                <a:cs typeface="Book Antiqua" panose="02040602050305030304"/>
                <a:sym typeface="Book Antiqua" panose="02040602050305030304"/>
              </a:rPr>
              <a:t>.01.2026</a:t>
            </a:r>
          </a:p>
          <a:p>
            <a:pPr marL="0" marR="0" lvl="0" indent="0" algn="ctr" rtl="0">
              <a:lnSpc>
                <a:spcPct val="100000"/>
              </a:lnSpc>
              <a:spcBef>
                <a:spcPts val="0"/>
              </a:spcBef>
              <a:spcAft>
                <a:spcPts val="0"/>
              </a:spcAft>
              <a:buNone/>
            </a:pPr>
            <a:endParaRPr sz="1400" b="0" i="0" u="none" strike="noStrike" cap="none" dirty="0">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2" name="Google Shape;53;p1"/>
          <p:cNvSpPr/>
          <p:nvPr/>
        </p:nvSpPr>
        <p:spPr>
          <a:xfrm>
            <a:off x="2204720" y="1395095"/>
            <a:ext cx="5306060" cy="445135"/>
          </a:xfrm>
          <a:prstGeom prst="rect">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tx1"/>
                </a:solidFill>
                <a:latin typeface="Book Antiqua" panose="02040602050305030304"/>
                <a:ea typeface="Book Antiqua" panose="02040602050305030304"/>
                <a:cs typeface="Book Antiqua" panose="02040602050305030304"/>
                <a:sym typeface="Book Antiqua" panose="02040602050305030304"/>
              </a:rPr>
              <a:t>ELECTRONICS AND COMMUNICATION ENGINEERING</a:t>
            </a:r>
          </a:p>
        </p:txBody>
      </p:sp>
      <p:sp>
        <p:nvSpPr>
          <p:cNvPr id="8" name="Rectangle 7"/>
          <p:cNvSpPr/>
          <p:nvPr/>
        </p:nvSpPr>
        <p:spPr>
          <a:xfrm>
            <a:off x="4035635" y="2417862"/>
            <a:ext cx="184731" cy="307777"/>
          </a:xfrm>
          <a:prstGeom prst="rect">
            <a:avLst/>
          </a:prstGeom>
        </p:spPr>
        <p:txBody>
          <a:bodyPr wrap="none">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2</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917985" y="325239"/>
            <a:ext cx="3048000" cy="460375"/>
          </a:xfrm>
          <a:prstGeom prst="rect">
            <a:avLst/>
          </a:prstGeom>
          <a:noFill/>
        </p:spPr>
        <p:txBody>
          <a:bodyPr wrap="square" rtlCol="0">
            <a:spAutoFit/>
          </a:bodyPr>
          <a:lstStyle/>
          <a:p>
            <a:r>
              <a:rPr lang="en-US" sz="2400" dirty="0">
                <a:ln/>
                <a:solidFill>
                  <a:schemeClr val="accent1"/>
                </a:solidFill>
                <a:effectLst>
                  <a:outerShdw blurRad="38100" dist="25400" dir="5400000" algn="ctr" rotWithShape="0">
                    <a:srgbClr val="6E747A">
                      <a:alpha val="43000"/>
                    </a:srgbClr>
                  </a:outerShdw>
                </a:effectLst>
              </a:rPr>
              <a:t>ABSTRACT</a:t>
            </a:r>
          </a:p>
        </p:txBody>
      </p:sp>
      <p:sp>
        <p:nvSpPr>
          <p:cNvPr id="9" name="Rectangle 3">
            <a:extLst>
              <a:ext uri="{FF2B5EF4-FFF2-40B4-BE49-F238E27FC236}">
                <a16:creationId xmlns:a16="http://schemas.microsoft.com/office/drawing/2014/main" id="{C3D76A4C-050F-5499-B21E-2D6C1DF4FF01}"/>
              </a:ext>
            </a:extLst>
          </p:cNvPr>
          <p:cNvSpPr>
            <a:spLocks noGrp="1" noChangeArrowheads="1"/>
          </p:cNvSpPr>
          <p:nvPr>
            <p:ph type="body" idx="1"/>
          </p:nvPr>
        </p:nvSpPr>
        <p:spPr bwMode="auto">
          <a:xfrm>
            <a:off x="92869" y="1482412"/>
            <a:ext cx="894051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Vehicle accidents in forest areas endanger wildlife and human lives due to over-speeding and lack of awareness. This system monitors vehicle speed and detects animal movement near roads to provide timely warnings to drivers. It helps reduce accidents, protect wildlife, and improve road safety in forest regions.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1439345"/>
            <a:ext cx="8520600" cy="3416400"/>
          </a:xfrm>
        </p:spPr>
        <p:txBody>
          <a:bodyPr>
            <a:normAutofit/>
          </a:bodyPr>
          <a:lstStyle/>
          <a:p>
            <a:pPr algn="just">
              <a:buFont typeface="Arial" panose="020B0604020202020204" pitchFamily="34" charset="0"/>
              <a:buChar char="•"/>
            </a:pPr>
            <a:r>
              <a:rPr lang="en-US" dirty="0">
                <a:solidFill>
                  <a:schemeClr val="tx1"/>
                </a:solidFill>
              </a:rPr>
              <a:t>Forest roads often face accidents due to over-speeding and unexpected wildlife crossings. The Vehicle Speed Monitoring and Wildlife Protection System helps monitor vehicle speed and detect animal presence near roadways. This system improves driver awareness, reduces accidents, and supports wildlife safety.</a:t>
            </a: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3</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907229" y="421917"/>
            <a:ext cx="3048000" cy="460375"/>
          </a:xfrm>
          <a:prstGeom prst="rect">
            <a:avLst/>
          </a:prstGeom>
          <a:noFill/>
        </p:spPr>
        <p:txBody>
          <a:bodyPr wrap="square" rtlCol="0">
            <a:spAutoFit/>
          </a:bodyPr>
          <a:lstStyle/>
          <a:p>
            <a:r>
              <a:rPr lang="en-US" sz="2400" dirty="0">
                <a:ln/>
                <a:solidFill>
                  <a:schemeClr val="accent1"/>
                </a:solidFill>
                <a:effectLst>
                  <a:outerShdw blurRad="38100" dist="25400" dir="5400000" algn="ctr" rotWithShape="0">
                    <a:srgbClr val="6E747A">
                      <a:alpha val="43000"/>
                    </a:srgbClr>
                  </a:outerShdw>
                </a:effectLst>
              </a:rPr>
              <a:t>Introduction</a:t>
            </a:r>
          </a:p>
        </p:txBody>
      </p:sp>
    </p:spTree>
    <p:extLst>
      <p:ext uri="{BB962C8B-B14F-4D97-AF65-F5344CB8AC3E}">
        <p14:creationId xmlns:p14="http://schemas.microsoft.com/office/powerpoint/2010/main" val="3070593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1439345"/>
            <a:ext cx="8520600" cy="3416400"/>
          </a:xfrm>
        </p:spPr>
        <p:txBody>
          <a:bodyPr>
            <a:normAutofit/>
          </a:bodyPr>
          <a:lstStyle/>
          <a:p>
            <a:pPr>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Over speeding vehicles in forest areas cause frequent wildlife accidents, requiring an automated speed monitoring and alert system.</a:t>
            </a: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4</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114554" y="268431"/>
            <a:ext cx="5690796" cy="461665"/>
          </a:xfrm>
          <a:prstGeom prst="rect">
            <a:avLst/>
          </a:prstGeom>
          <a:noFill/>
        </p:spPr>
        <p:txBody>
          <a:bodyPr wrap="square" rtlCol="0">
            <a:spAutoFit/>
          </a:bodyPr>
          <a:lstStyle/>
          <a:p>
            <a:pPr algn="ctr"/>
            <a:r>
              <a:rPr lang="en-US" sz="2400" dirty="0">
                <a:solidFill>
                  <a:schemeClr val="accent1"/>
                </a:solidFill>
                <a:effectLst>
                  <a:outerShdw blurRad="38100" dist="25400" dir="5400000" algn="ctr" rotWithShape="0">
                    <a:srgbClr val="6E747A">
                      <a:alpha val="43000"/>
                    </a:srgbClr>
                  </a:outerShdw>
                </a:effectLst>
              </a:rPr>
              <a:t>PROBLEM STATEMENT</a:t>
            </a:r>
          </a:p>
        </p:txBody>
      </p:sp>
    </p:spTree>
    <p:extLst>
      <p:ext uri="{BB962C8B-B14F-4D97-AF65-F5344CB8AC3E}">
        <p14:creationId xmlns:p14="http://schemas.microsoft.com/office/powerpoint/2010/main" val="779115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5</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pic>
        <p:nvPicPr>
          <p:cNvPr id="7" name="Picture 6" descr="A deer crossing a road&#10;&#10;AI-generated content may be incorrect.">
            <a:extLst>
              <a:ext uri="{FF2B5EF4-FFF2-40B4-BE49-F238E27FC236}">
                <a16:creationId xmlns:a16="http://schemas.microsoft.com/office/drawing/2014/main" id="{852AF73F-305F-D8FC-3488-5E59484042B6}"/>
              </a:ext>
            </a:extLst>
          </p:cNvPr>
          <p:cNvPicPr>
            <a:picLocks noChangeAspect="1"/>
          </p:cNvPicPr>
          <p:nvPr/>
        </p:nvPicPr>
        <p:blipFill>
          <a:blip r:embed="rId2"/>
          <a:stretch>
            <a:fillRect/>
          </a:stretch>
        </p:blipFill>
        <p:spPr>
          <a:xfrm>
            <a:off x="0" y="0"/>
            <a:ext cx="9170241" cy="5143500"/>
          </a:xfrm>
          <a:prstGeom prst="rect">
            <a:avLst/>
          </a:prstGeom>
        </p:spPr>
      </p:pic>
    </p:spTree>
    <p:extLst>
      <p:ext uri="{BB962C8B-B14F-4D97-AF65-F5344CB8AC3E}">
        <p14:creationId xmlns:p14="http://schemas.microsoft.com/office/powerpoint/2010/main" val="3011640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8E4C-28AD-4C9F-3CC5-C88D91768372}"/>
              </a:ext>
            </a:extLst>
          </p:cNvPr>
          <p:cNvSpPr>
            <a:spLocks noGrp="1"/>
          </p:cNvSpPr>
          <p:nvPr>
            <p:ph type="title"/>
          </p:nvPr>
        </p:nvSpPr>
        <p:spPr>
          <a:xfrm>
            <a:off x="1207294" y="445025"/>
            <a:ext cx="7625006" cy="572700"/>
          </a:xfrm>
        </p:spPr>
        <p:txBody>
          <a:bodyPr>
            <a:normAutofit fontScale="90000"/>
          </a:bodyPr>
          <a:lstStyle/>
          <a:p>
            <a:r>
              <a:rPr lang="en-US" sz="3100" dirty="0">
                <a:solidFill>
                  <a:schemeClr val="accent1"/>
                </a:solidFill>
                <a:effectLst>
                  <a:outerShdw blurRad="38100" dist="25400" dir="5400000" algn="ctr" rotWithShape="0">
                    <a:srgbClr val="6E747A">
                      <a:alpha val="43000"/>
                    </a:srgbClr>
                  </a:outerShdw>
                </a:effectLst>
              </a:rPr>
              <a:t>Visual Explanation</a:t>
            </a:r>
            <a:br>
              <a:rPr lang="en-US" dirty="0">
                <a:solidFill>
                  <a:schemeClr val="accent1"/>
                </a:solidFill>
                <a:effectLst>
                  <a:outerShdw blurRad="38100" dist="25400" dir="5400000" algn="ctr" rotWithShape="0">
                    <a:srgbClr val="6E747A">
                      <a:alpha val="43000"/>
                    </a:srgbClr>
                  </a:outerShdw>
                </a:effectLst>
              </a:rPr>
            </a:br>
            <a:endParaRPr lang="en-IN" dirty="0"/>
          </a:p>
        </p:txBody>
      </p:sp>
      <p:sp>
        <p:nvSpPr>
          <p:cNvPr id="4" name="Slide Number Placeholder 3">
            <a:extLst>
              <a:ext uri="{FF2B5EF4-FFF2-40B4-BE49-F238E27FC236}">
                <a16:creationId xmlns:a16="http://schemas.microsoft.com/office/drawing/2014/main" id="{9E7EB991-F1A0-7806-CF84-B11E852437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6</a:t>
            </a:fld>
            <a:endParaRPr lang="en-GB"/>
          </a:p>
        </p:txBody>
      </p:sp>
      <p:pic>
        <p:nvPicPr>
          <p:cNvPr id="5" name="mini proj video">
            <a:hlinkClick r:id="" action="ppaction://media"/>
            <a:extLst>
              <a:ext uri="{FF2B5EF4-FFF2-40B4-BE49-F238E27FC236}">
                <a16:creationId xmlns:a16="http://schemas.microsoft.com/office/drawing/2014/main" id="{1C3EAC95-13F8-0A5A-5062-5559D7C7DF9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22842" y="1202417"/>
            <a:ext cx="8898315" cy="3657600"/>
          </a:xfrm>
          <a:prstGeom prst="rect">
            <a:avLst/>
          </a:prstGeom>
        </p:spPr>
      </p:pic>
      <p:pic>
        <p:nvPicPr>
          <p:cNvPr id="6" name="Picture 1" descr="https://encrypted-tbn0.gstatic.com/images?q=tbn:ANd9GcQdAoy8HAYiGwgqBMeq0EtfxKBc5i9totR_W7yOXHEosxAvJ3u6k6r7MVNRo_M3U1QAJMc&amp;usqp=CAU">
            <a:extLst>
              <a:ext uri="{FF2B5EF4-FFF2-40B4-BE49-F238E27FC236}">
                <a16:creationId xmlns:a16="http://schemas.microsoft.com/office/drawing/2014/main" id="{35CB7648-86E8-DADE-DA6C-13707FD24393}"/>
              </a:ext>
            </a:extLst>
          </p:cNvPr>
          <p:cNvPicPr>
            <a:picLocks noChangeAspect="1" noChangeArrowheads="1"/>
          </p:cNvPicPr>
          <p:nvPr/>
        </p:nvPicPr>
        <p:blipFill>
          <a:blip r:embed="rId5"/>
          <a:srcRect/>
          <a:stretch>
            <a:fillRect/>
          </a:stretch>
        </p:blipFill>
        <p:spPr bwMode="auto">
          <a:xfrm>
            <a:off x="57150" y="105436"/>
            <a:ext cx="770965" cy="900181"/>
          </a:xfrm>
          <a:prstGeom prst="rect">
            <a:avLst/>
          </a:prstGeom>
          <a:noFill/>
        </p:spPr>
      </p:pic>
    </p:spTree>
    <p:extLst>
      <p:ext uri="{BB962C8B-B14F-4D97-AF65-F5344CB8AC3E}">
        <p14:creationId xmlns:p14="http://schemas.microsoft.com/office/powerpoint/2010/main" val="189566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itchFamily="18" charset="0"/>
                <a:cs typeface="Times New Roman" pitchFamily="18" charset="0"/>
              </a:rPr>
              <a:t>   </a:t>
            </a:r>
            <a:r>
              <a:rPr lang="en-IN" b="1" dirty="0">
                <a:solidFill>
                  <a:schemeClr val="accent1"/>
                </a:solidFill>
                <a:latin typeface="Times New Roman" pitchFamily="18" charset="0"/>
                <a:cs typeface="Times New Roman" pitchFamily="18" charset="0"/>
              </a:rPr>
              <a:t>Objectives</a:t>
            </a:r>
          </a:p>
        </p:txBody>
      </p:sp>
      <p:sp>
        <p:nvSpPr>
          <p:cNvPr id="3" name="Text Placeholder 2"/>
          <p:cNvSpPr>
            <a:spLocks noGrp="1"/>
          </p:cNvSpPr>
          <p:nvPr>
            <p:ph type="body" idx="1"/>
          </p:nvPr>
        </p:nvSpPr>
        <p:spPr/>
        <p:txBody>
          <a:bodyPr>
            <a:normAutofit/>
          </a:bodyPr>
          <a:lstStyle/>
          <a:p>
            <a:r>
              <a:rPr lang="en-IN" sz="2800" dirty="0">
                <a:solidFill>
                  <a:schemeClr val="tx1"/>
                </a:solidFill>
                <a:latin typeface="Times New Roman" pitchFamily="18" charset="0"/>
                <a:cs typeface="Times New Roman" pitchFamily="18" charset="0"/>
              </a:rPr>
              <a:t>Monitor vehicle speed automatically.</a:t>
            </a:r>
          </a:p>
          <a:p>
            <a:r>
              <a:rPr lang="en-IN" sz="2800" dirty="0">
                <a:solidFill>
                  <a:schemeClr val="tx1"/>
                </a:solidFill>
                <a:latin typeface="Times New Roman" pitchFamily="18" charset="0"/>
                <a:cs typeface="Times New Roman" pitchFamily="18" charset="0"/>
              </a:rPr>
              <a:t>Alert drivers when speed exceeds limits.</a:t>
            </a:r>
          </a:p>
          <a:p>
            <a:r>
              <a:rPr lang="en-IN" sz="2800" dirty="0">
                <a:solidFill>
                  <a:schemeClr val="tx1"/>
                </a:solidFill>
                <a:latin typeface="Times New Roman" pitchFamily="18" charset="0"/>
                <a:cs typeface="Times New Roman" pitchFamily="18" charset="0"/>
              </a:rPr>
              <a:t>Detect wildlife and notify forest officials.</a:t>
            </a:r>
          </a:p>
          <a:p>
            <a:endParaRPr lang="en-IN" sz="28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Times New Roman" pitchFamily="18" charset="0"/>
                <a:cs typeface="Times New Roman" pitchFamily="18" charset="0"/>
              </a:rPr>
              <a:pPr marL="0" lvl="0" indent="0" algn="r" rtl="0">
                <a:spcBef>
                  <a:spcPts val="0"/>
                </a:spcBef>
                <a:spcAft>
                  <a:spcPts val="0"/>
                </a:spcAft>
                <a:buNone/>
              </a:pPr>
              <a:t>7</a:t>
            </a:fld>
            <a:endParaRPr lang="en-GB">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1439345"/>
            <a:ext cx="8520600" cy="3416400"/>
          </a:xfrm>
        </p:spPr>
        <p:txBody>
          <a:bodyPr>
            <a:normAutofit/>
          </a:bodyPr>
          <a:lstStyle/>
          <a:p>
            <a:pPr>
              <a:lnSpc>
                <a:spcPct val="150000"/>
              </a:lnSpc>
            </a:pPr>
            <a:r>
              <a:rPr lang="it-IT" altLang="en-US" b="1" dirty="0">
                <a:solidFill>
                  <a:schemeClr val="tx1"/>
                </a:solidFill>
                <a:latin typeface="Times New Roman" panose="02020603050405020304" pitchFamily="18" charset="0"/>
                <a:cs typeface="Times New Roman" panose="02020603050405020304" pitchFamily="18" charset="0"/>
              </a:rPr>
              <a:t>Microcontroller</a:t>
            </a:r>
            <a:r>
              <a:rPr lang="it-IT" altLang="en-US" dirty="0">
                <a:solidFill>
                  <a:schemeClr val="tx1"/>
                </a:solidFill>
                <a:latin typeface="Times New Roman" panose="02020603050405020304" pitchFamily="18" charset="0"/>
                <a:cs typeface="Times New Roman" panose="02020603050405020304" pitchFamily="18" charset="0"/>
              </a:rPr>
              <a:t>: Arduino Uno </a:t>
            </a: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Sensors: </a:t>
            </a:r>
            <a:r>
              <a:rPr lang="en-US" altLang="en-US" dirty="0">
                <a:solidFill>
                  <a:schemeClr val="tx1"/>
                </a:solidFill>
                <a:latin typeface="Times New Roman" panose="02020603050405020304" pitchFamily="18" charset="0"/>
                <a:cs typeface="Times New Roman" panose="02020603050405020304" pitchFamily="18" charset="0"/>
              </a:rPr>
              <a:t>IR Sensors, Ultrasonic Sensors, or LIDAR for vehicle detection</a:t>
            </a:r>
            <a:endParaRPr lang="it-IT"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Camera (optional):</a:t>
            </a:r>
            <a:r>
              <a:rPr lang="en-US" altLang="en-US" dirty="0">
                <a:solidFill>
                  <a:schemeClr val="tx1"/>
                </a:solidFill>
                <a:latin typeface="Times New Roman" panose="02020603050405020304" pitchFamily="18" charset="0"/>
                <a:cs typeface="Times New Roman" panose="02020603050405020304" pitchFamily="18" charset="0"/>
              </a:rPr>
              <a:t> For number plate or animal detection</a:t>
            </a:r>
            <a:endParaRPr lang="it-IT"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LCD Display: </a:t>
            </a:r>
            <a:r>
              <a:rPr lang="en-US" altLang="en-US" dirty="0">
                <a:solidFill>
                  <a:schemeClr val="tx1"/>
                </a:solidFill>
                <a:latin typeface="Times New Roman" panose="02020603050405020304" pitchFamily="18" charset="0"/>
                <a:cs typeface="Times New Roman" panose="02020603050405020304" pitchFamily="18" charset="0"/>
              </a:rPr>
              <a:t>Shows vehicle speed and alerts</a:t>
            </a:r>
            <a:endParaRPr lang="it-IT"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Buzzer / LED Indicator</a:t>
            </a:r>
            <a:endParaRPr lang="it-IT"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GSM Module (SIM800L)</a:t>
            </a:r>
            <a:endParaRPr lang="it-IT"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Solar Panel (optional): </a:t>
            </a:r>
            <a:r>
              <a:rPr lang="en-US" altLang="en-US" dirty="0">
                <a:solidFill>
                  <a:schemeClr val="tx1"/>
                </a:solidFill>
                <a:latin typeface="Times New Roman" panose="02020603050405020304" pitchFamily="18" charset="0"/>
                <a:cs typeface="Times New Roman" panose="02020603050405020304" pitchFamily="18" charset="0"/>
              </a:rPr>
              <a:t>Provides renewable energy in remote zones</a:t>
            </a: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8</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1014805" y="421917"/>
            <a:ext cx="3048000" cy="460375"/>
          </a:xfrm>
          <a:prstGeom prst="rect">
            <a:avLst/>
          </a:prstGeom>
          <a:noFill/>
        </p:spPr>
        <p:txBody>
          <a:bodyPr wrap="square" rtlCol="0">
            <a:spAutoFit/>
          </a:bodyPr>
          <a:lstStyle/>
          <a:p>
            <a:r>
              <a:rPr lang="en-US" sz="2400" dirty="0">
                <a:ln/>
                <a:solidFill>
                  <a:schemeClr val="accent1"/>
                </a:solidFill>
                <a:effectLst>
                  <a:outerShdw blurRad="38100" dist="25400" dir="5400000" algn="ctr" rotWithShape="0">
                    <a:srgbClr val="6E747A">
                      <a:alpha val="43000"/>
                    </a:srgbClr>
                  </a:outerShdw>
                </a:effectLst>
              </a:rPr>
              <a:t>Components</a:t>
            </a:r>
          </a:p>
        </p:txBody>
      </p:sp>
    </p:spTree>
    <p:extLst>
      <p:ext uri="{BB962C8B-B14F-4D97-AF65-F5344CB8AC3E}">
        <p14:creationId xmlns:p14="http://schemas.microsoft.com/office/powerpoint/2010/main" val="2238690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98915-8EE8-29B1-8D6F-04509BC7A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42E30-42DF-9776-805A-9856529F6730}"/>
              </a:ext>
            </a:extLst>
          </p:cNvPr>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pic>
        <p:nvPicPr>
          <p:cNvPr id="5" name="Picture 1" descr="https://encrypted-tbn0.gstatic.com/images?q=tbn:ANd9GcQdAoy8HAYiGwgqBMeq0EtfxKBc5i9totR_W7yOXHEosxAvJ3u6k6r7MVNRo_M3U1QAJMc&amp;usqp=CAU">
            <a:extLst>
              <a:ext uri="{FF2B5EF4-FFF2-40B4-BE49-F238E27FC236}">
                <a16:creationId xmlns:a16="http://schemas.microsoft.com/office/drawing/2014/main" id="{8D4CA4EB-96D1-25F8-212A-4A22EF5A76BC}"/>
              </a:ext>
            </a:extLst>
          </p:cNvPr>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a:extLst>
              <a:ext uri="{FF2B5EF4-FFF2-40B4-BE49-F238E27FC236}">
                <a16:creationId xmlns:a16="http://schemas.microsoft.com/office/drawing/2014/main" id="{B4F8A9DD-EDB3-A9A4-60C0-F8CC09ADD350}"/>
              </a:ext>
            </a:extLst>
          </p:cNvPr>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9</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a:extLst>
              <a:ext uri="{FF2B5EF4-FFF2-40B4-BE49-F238E27FC236}">
                <a16:creationId xmlns:a16="http://schemas.microsoft.com/office/drawing/2014/main" id="{9D2E0669-AA97-6BCB-4F17-51764E1E29F9}"/>
              </a:ext>
            </a:extLst>
          </p:cNvPr>
          <p:cNvSpPr txBox="1"/>
          <p:nvPr/>
        </p:nvSpPr>
        <p:spPr>
          <a:xfrm>
            <a:off x="1014805" y="421917"/>
            <a:ext cx="3048000" cy="460375"/>
          </a:xfrm>
          <a:prstGeom prst="rect">
            <a:avLst/>
          </a:prstGeom>
          <a:noFill/>
        </p:spPr>
        <p:txBody>
          <a:bodyPr wrap="square" rtlCol="0">
            <a:spAutoFit/>
          </a:bodyPr>
          <a:lstStyle/>
          <a:p>
            <a:r>
              <a:rPr lang="en-US" sz="2400" dirty="0">
                <a:ln/>
                <a:solidFill>
                  <a:schemeClr val="accent1"/>
                </a:solidFill>
                <a:effectLst>
                  <a:outerShdw blurRad="38100" dist="25400" dir="5400000" algn="ctr" rotWithShape="0">
                    <a:srgbClr val="6E747A">
                      <a:alpha val="43000"/>
                    </a:srgbClr>
                  </a:outerShdw>
                </a:effectLst>
              </a:rPr>
              <a:t>Block diagram</a:t>
            </a:r>
          </a:p>
        </p:txBody>
      </p:sp>
      <p:pic>
        <p:nvPicPr>
          <p:cNvPr id="7" name="Picture 6">
            <a:extLst>
              <a:ext uri="{FF2B5EF4-FFF2-40B4-BE49-F238E27FC236}">
                <a16:creationId xmlns:a16="http://schemas.microsoft.com/office/drawing/2014/main" id="{0A91BB67-7E2F-65E1-4E65-B34A52CBD28F}"/>
              </a:ext>
            </a:extLst>
          </p:cNvPr>
          <p:cNvPicPr>
            <a:picLocks noChangeAspect="1"/>
          </p:cNvPicPr>
          <p:nvPr/>
        </p:nvPicPr>
        <p:blipFill>
          <a:blip r:embed="rId3"/>
          <a:stretch>
            <a:fillRect/>
          </a:stretch>
        </p:blipFill>
        <p:spPr>
          <a:xfrm>
            <a:off x="0" y="882292"/>
            <a:ext cx="9144000" cy="4261208"/>
          </a:xfrm>
          <a:prstGeom prst="rect">
            <a:avLst/>
          </a:prstGeom>
        </p:spPr>
      </p:pic>
    </p:spTree>
    <p:extLst>
      <p:ext uri="{BB962C8B-B14F-4D97-AF65-F5344CB8AC3E}">
        <p14:creationId xmlns:p14="http://schemas.microsoft.com/office/powerpoint/2010/main" val="2132859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36396" y="1196185"/>
            <a:ext cx="8520600" cy="3416400"/>
          </a:xfrm>
        </p:spPr>
        <p:txBody>
          <a:bodyPr>
            <a:normAutofit/>
          </a:bodyPr>
          <a:lstStyle/>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System Setup</a:t>
            </a:r>
            <a:endParaRPr lang="en-US"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Vehicle Detection</a:t>
            </a:r>
            <a:endParaRPr lang="en-US"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Speed Measurement</a:t>
            </a:r>
            <a:endParaRPr lang="en-US"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Speed Comparison</a:t>
            </a:r>
            <a:endParaRPr lang="en-US"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Alert Generation</a:t>
            </a:r>
            <a:endParaRPr lang="en-US"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b="1" dirty="0">
                <a:solidFill>
                  <a:schemeClr val="tx1"/>
                </a:solidFill>
                <a:latin typeface="Times New Roman" panose="02020603050405020304" pitchFamily="18" charset="0"/>
                <a:cs typeface="Times New Roman" panose="02020603050405020304" pitchFamily="18" charset="0"/>
              </a:rPr>
              <a:t>Data Logging (optional)</a:t>
            </a:r>
            <a:endParaRPr lang="en-US" alt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b="1" dirty="0">
                <a:solidFill>
                  <a:schemeClr val="tx1"/>
                </a:solidFill>
                <a:latin typeface="Times New Roman" panose="02020603050405020304" pitchFamily="18" charset="0"/>
                <a:cs typeface="Times New Roman" panose="02020603050405020304" pitchFamily="18" charset="0"/>
              </a:rPr>
              <a:t>Power Management</a:t>
            </a:r>
            <a:endParaRPr lang="en-US" altLang="en-US" dirty="0">
              <a:solidFill>
                <a:schemeClr val="tx1"/>
              </a:solidFill>
              <a:latin typeface="Times New Roman" panose="02020603050405020304" pitchFamily="18" charset="0"/>
              <a:cs typeface="Times New Roman" panose="02020603050405020304" pitchFamily="18" charset="0"/>
            </a:endParaRP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10</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982531" y="499264"/>
            <a:ext cx="3048000" cy="460375"/>
          </a:xfrm>
          <a:prstGeom prst="rect">
            <a:avLst/>
          </a:prstGeom>
          <a:noFill/>
        </p:spPr>
        <p:txBody>
          <a:bodyPr wrap="square" rtlCol="0">
            <a:spAutoFit/>
          </a:bodyPr>
          <a:lstStyle/>
          <a:p>
            <a:r>
              <a:rPr lang="en-US" sz="2400" dirty="0">
                <a:ln/>
                <a:solidFill>
                  <a:schemeClr val="accent1"/>
                </a:solidFill>
                <a:effectLst>
                  <a:outerShdw blurRad="38100" dist="25400" dir="5400000" algn="ctr" rotWithShape="0">
                    <a:srgbClr val="6E747A">
                      <a:alpha val="43000"/>
                    </a:srgbClr>
                  </a:outerShdw>
                </a:effectLst>
              </a:rPr>
              <a:t>Methodology</a:t>
            </a:r>
          </a:p>
        </p:txBody>
      </p:sp>
    </p:spTree>
    <p:extLst>
      <p:ext uri="{BB962C8B-B14F-4D97-AF65-F5344CB8AC3E}">
        <p14:creationId xmlns:p14="http://schemas.microsoft.com/office/powerpoint/2010/main" val="355212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solidFill>
                  <a:schemeClr val="accent1"/>
                </a:solidFill>
                <a:latin typeface="Times New Roman" pitchFamily="18" charset="0"/>
                <a:cs typeface="Times New Roman" pitchFamily="18" charset="0"/>
              </a:rPr>
              <a:t>System Operation and Setup</a:t>
            </a:r>
          </a:p>
        </p:txBody>
      </p:sp>
      <p:sp>
        <p:nvSpPr>
          <p:cNvPr id="3" name="Content Placeholder 2"/>
          <p:cNvSpPr>
            <a:spLocks noGrp="1"/>
          </p:cNvSpPr>
          <p:nvPr>
            <p:ph idx="1"/>
          </p:nvPr>
        </p:nvSpPr>
        <p:spPr/>
        <p:txBody>
          <a:bodyPr>
            <a:normAutofit fontScale="85000" lnSpcReduction="20000"/>
          </a:bodyPr>
          <a:lstStyle/>
          <a:p>
            <a:pPr>
              <a:buNone/>
            </a:pPr>
            <a:r>
              <a:rPr sz="2100" b="1" dirty="0">
                <a:solidFill>
                  <a:schemeClr val="tx1"/>
                </a:solidFill>
                <a:latin typeface="Times New Roman" pitchFamily="18" charset="0"/>
                <a:cs typeface="Times New Roman" pitchFamily="18" charset="0"/>
              </a:rPr>
              <a:t>System Installation:</a:t>
            </a:r>
          </a:p>
          <a:p>
            <a:r>
              <a:rPr dirty="0">
                <a:solidFill>
                  <a:schemeClr val="tx1"/>
                </a:solidFill>
                <a:latin typeface="Times New Roman" pitchFamily="18" charset="0"/>
                <a:cs typeface="Times New Roman" pitchFamily="18" charset="0"/>
              </a:rPr>
              <a:t>Sensors positioned at equal distances along forest roads.</a:t>
            </a:r>
          </a:p>
          <a:p>
            <a:r>
              <a:rPr dirty="0">
                <a:solidFill>
                  <a:schemeClr val="tx1"/>
                </a:solidFill>
                <a:latin typeface="Times New Roman" pitchFamily="18" charset="0"/>
                <a:cs typeface="Times New Roman" pitchFamily="18" charset="0"/>
              </a:rPr>
              <a:t>Weatherproof casings protect against rain and dust.</a:t>
            </a:r>
          </a:p>
          <a:p>
            <a:r>
              <a:rPr dirty="0">
                <a:solidFill>
                  <a:schemeClr val="tx1"/>
                </a:solidFill>
                <a:latin typeface="Times New Roman" pitchFamily="18" charset="0"/>
                <a:cs typeface="Times New Roman" pitchFamily="18" charset="0"/>
              </a:rPr>
              <a:t>Connected to control unit wirelessly or via cables.</a:t>
            </a:r>
          </a:p>
          <a:p>
            <a:pPr>
              <a:buNone/>
            </a:pPr>
            <a:r>
              <a:rPr sz="2100" b="1" dirty="0">
                <a:solidFill>
                  <a:schemeClr val="tx1"/>
                </a:solidFill>
                <a:latin typeface="Times New Roman" pitchFamily="18" charset="0"/>
                <a:cs typeface="Times New Roman" pitchFamily="18" charset="0"/>
              </a:rPr>
              <a:t>Vehicle Detection:</a:t>
            </a:r>
          </a:p>
          <a:p>
            <a:r>
              <a:rPr dirty="0">
                <a:solidFill>
                  <a:schemeClr val="tx1"/>
                </a:solidFill>
                <a:latin typeface="Times New Roman" pitchFamily="18" charset="0"/>
                <a:cs typeface="Times New Roman" pitchFamily="18" charset="0"/>
              </a:rPr>
              <a:t> IR/Ultrasonic sensors detect vehicle motion.</a:t>
            </a:r>
          </a:p>
          <a:p>
            <a:r>
              <a:rPr dirty="0">
                <a:solidFill>
                  <a:schemeClr val="tx1"/>
                </a:solidFill>
                <a:latin typeface="Times New Roman" pitchFamily="18" charset="0"/>
                <a:cs typeface="Times New Roman" pitchFamily="18" charset="0"/>
              </a:rPr>
              <a:t> </a:t>
            </a:r>
            <a:r>
              <a:rPr lang="it-IT" altLang="en-US" dirty="0">
                <a:solidFill>
                  <a:schemeClr val="tx1"/>
                </a:solidFill>
                <a:latin typeface="Times New Roman" panose="02020603050405020304" pitchFamily="18" charset="0"/>
                <a:cs typeface="Times New Roman" panose="02020603050405020304" pitchFamily="18" charset="0"/>
              </a:rPr>
              <a:t>Arduino Uno </a:t>
            </a:r>
            <a:r>
              <a:rPr dirty="0">
                <a:solidFill>
                  <a:schemeClr val="tx1"/>
                </a:solidFill>
                <a:latin typeface="Times New Roman" pitchFamily="18" charset="0"/>
                <a:cs typeface="Times New Roman" pitchFamily="18" charset="0"/>
              </a:rPr>
              <a:t>receives sensor input to start timing sequence.</a:t>
            </a:r>
          </a:p>
          <a:p>
            <a:pPr>
              <a:buNone/>
            </a:pPr>
            <a:r>
              <a:rPr sz="2100" b="1" dirty="0">
                <a:solidFill>
                  <a:schemeClr val="tx1"/>
                </a:solidFill>
                <a:latin typeface="Times New Roman" pitchFamily="18" charset="0"/>
                <a:cs typeface="Times New Roman" pitchFamily="18" charset="0"/>
              </a:rPr>
              <a:t>Speed Measurement:</a:t>
            </a:r>
          </a:p>
          <a:p>
            <a:r>
              <a:rPr dirty="0">
                <a:solidFill>
                  <a:schemeClr val="tx1"/>
                </a:solidFill>
                <a:latin typeface="Times New Roman" pitchFamily="18" charset="0"/>
                <a:cs typeface="Times New Roman" pitchFamily="18" charset="0"/>
              </a:rPr>
              <a:t> Speed = Distance / Time between two sensors.</a:t>
            </a:r>
          </a:p>
          <a:p>
            <a:r>
              <a:rPr dirty="0">
                <a:solidFill>
                  <a:schemeClr val="tx1"/>
                </a:solidFill>
                <a:latin typeface="Times New Roman" pitchFamily="18" charset="0"/>
                <a:cs typeface="Times New Roman" pitchFamily="18" charset="0"/>
              </a:rPr>
              <a:t>Accurate calculation ensures proper speed detection.</a:t>
            </a:r>
          </a:p>
          <a:p>
            <a:pPr>
              <a:buNone/>
            </a:pPr>
            <a:r>
              <a:rPr sz="2100" b="1" dirty="0">
                <a:solidFill>
                  <a:schemeClr val="tx1"/>
                </a:solidFill>
                <a:latin typeface="Times New Roman" pitchFamily="18" charset="0"/>
                <a:cs typeface="Times New Roman" pitchFamily="18" charset="0"/>
              </a:rPr>
              <a:t>Speed Comparison:</a:t>
            </a:r>
          </a:p>
          <a:p>
            <a:r>
              <a:rPr dirty="0">
                <a:solidFill>
                  <a:schemeClr val="tx1"/>
                </a:solidFill>
                <a:latin typeface="Times New Roman" pitchFamily="18" charset="0"/>
                <a:cs typeface="Times New Roman" pitchFamily="18" charset="0"/>
              </a:rPr>
              <a:t>Speed is compared to a preset limit (e.g., 40 km/h).</a:t>
            </a:r>
          </a:p>
          <a:p>
            <a:r>
              <a:rPr dirty="0">
                <a:solidFill>
                  <a:schemeClr val="tx1"/>
                </a:solidFill>
                <a:latin typeface="Times New Roman" pitchFamily="18" charset="0"/>
                <a:cs typeface="Times New Roman" pitchFamily="18" charset="0"/>
              </a:rPr>
              <a:t> </a:t>
            </a:r>
            <a:r>
              <a:rPr dirty="0" err="1">
                <a:solidFill>
                  <a:schemeClr val="tx1"/>
                </a:solidFill>
                <a:latin typeface="Times New Roman" pitchFamily="18" charset="0"/>
                <a:cs typeface="Times New Roman" pitchFamily="18" charset="0"/>
              </a:rPr>
              <a:t>Overspeed</a:t>
            </a:r>
            <a:r>
              <a:rPr dirty="0">
                <a:solidFill>
                  <a:schemeClr val="tx1"/>
                </a:solidFill>
                <a:latin typeface="Times New Roman" pitchFamily="18" charset="0"/>
                <a:cs typeface="Times New Roman" pitchFamily="18" charset="0"/>
              </a:rPr>
              <a:t> → alert event triggered.</a:t>
            </a:r>
          </a:p>
          <a:p>
            <a:endParaRPr dirty="0">
              <a:solidFill>
                <a:schemeClr val="tx1"/>
              </a:solidFill>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solidFill>
                  <a:schemeClr val="accent1"/>
                </a:solidFill>
                <a:latin typeface="Times New Roman" pitchFamily="18" charset="0"/>
                <a:cs typeface="Times New Roman" pitchFamily="18" charset="0"/>
              </a:rPr>
              <a:t>Alert, Data, and Power Management</a:t>
            </a:r>
          </a:p>
        </p:txBody>
      </p:sp>
      <p:sp>
        <p:nvSpPr>
          <p:cNvPr id="3" name="Content Placeholder 2"/>
          <p:cNvSpPr>
            <a:spLocks noGrp="1"/>
          </p:cNvSpPr>
          <p:nvPr>
            <p:ph idx="1"/>
          </p:nvPr>
        </p:nvSpPr>
        <p:spPr/>
        <p:txBody>
          <a:bodyPr>
            <a:normAutofit fontScale="92500" lnSpcReduction="10000"/>
          </a:bodyPr>
          <a:lstStyle/>
          <a:p>
            <a:pPr>
              <a:buNone/>
            </a:pPr>
            <a:r>
              <a:rPr b="1" dirty="0">
                <a:solidFill>
                  <a:schemeClr val="tx1"/>
                </a:solidFill>
                <a:latin typeface="Times New Roman" pitchFamily="18" charset="0"/>
                <a:cs typeface="Times New Roman" pitchFamily="18" charset="0"/>
              </a:rPr>
              <a:t> Alert Generation:</a:t>
            </a:r>
          </a:p>
          <a:p>
            <a:r>
              <a:rPr dirty="0">
                <a:solidFill>
                  <a:schemeClr val="tx1"/>
                </a:solidFill>
                <a:latin typeface="Times New Roman" pitchFamily="18" charset="0"/>
                <a:cs typeface="Times New Roman" pitchFamily="18" charset="0"/>
              </a:rPr>
              <a:t>Buzzer and LED flash as driver warnings.</a:t>
            </a:r>
          </a:p>
          <a:p>
            <a:r>
              <a:rPr dirty="0">
                <a:solidFill>
                  <a:schemeClr val="tx1"/>
                </a:solidFill>
                <a:latin typeface="Times New Roman" pitchFamily="18" charset="0"/>
                <a:cs typeface="Times New Roman" pitchFamily="18" charset="0"/>
              </a:rPr>
              <a:t> LCD displays message 'Slow Down – Wildlife Zone Ahead'.</a:t>
            </a:r>
          </a:p>
          <a:p>
            <a:r>
              <a:rPr dirty="0">
                <a:solidFill>
                  <a:schemeClr val="tx1"/>
                </a:solidFill>
                <a:latin typeface="Times New Roman" pitchFamily="18" charset="0"/>
                <a:cs typeface="Times New Roman" pitchFamily="18" charset="0"/>
              </a:rPr>
              <a:t> </a:t>
            </a:r>
            <a:r>
              <a:rPr dirty="0" err="1">
                <a:solidFill>
                  <a:schemeClr val="tx1"/>
                </a:solidFill>
                <a:latin typeface="Times New Roman" pitchFamily="18" charset="0"/>
                <a:cs typeface="Times New Roman" pitchFamily="18" charset="0"/>
              </a:rPr>
              <a:t>DFPlayer</a:t>
            </a:r>
            <a:r>
              <a:rPr dirty="0">
                <a:solidFill>
                  <a:schemeClr val="tx1"/>
                </a:solidFill>
                <a:latin typeface="Times New Roman" pitchFamily="18" charset="0"/>
                <a:cs typeface="Times New Roman" pitchFamily="18" charset="0"/>
              </a:rPr>
              <a:t> Mini plays voice alerts.</a:t>
            </a:r>
          </a:p>
          <a:p>
            <a:r>
              <a:rPr dirty="0">
                <a:solidFill>
                  <a:schemeClr val="tx1"/>
                </a:solidFill>
                <a:latin typeface="Times New Roman" pitchFamily="18" charset="0"/>
                <a:cs typeface="Times New Roman" pitchFamily="18" charset="0"/>
              </a:rPr>
              <a:t> GSM module sends message to forest authorities.</a:t>
            </a:r>
          </a:p>
          <a:p>
            <a:pPr>
              <a:buNone/>
            </a:pPr>
            <a:r>
              <a:rPr b="1" dirty="0">
                <a:solidFill>
                  <a:schemeClr val="tx1"/>
                </a:solidFill>
                <a:latin typeface="Times New Roman" pitchFamily="18" charset="0"/>
                <a:cs typeface="Times New Roman" pitchFamily="18" charset="0"/>
              </a:rPr>
              <a:t>Data Logging and Analysis:</a:t>
            </a:r>
          </a:p>
          <a:p>
            <a:r>
              <a:rPr dirty="0">
                <a:solidFill>
                  <a:schemeClr val="tx1"/>
                </a:solidFill>
                <a:latin typeface="Times New Roman" pitchFamily="18" charset="0"/>
                <a:cs typeface="Times New Roman" pitchFamily="18" charset="0"/>
              </a:rPr>
              <a:t>Stores vehicle speed, date, and time.</a:t>
            </a:r>
          </a:p>
          <a:p>
            <a:r>
              <a:rPr dirty="0">
                <a:solidFill>
                  <a:schemeClr val="tx1"/>
                </a:solidFill>
                <a:latin typeface="Times New Roman" pitchFamily="18" charset="0"/>
                <a:cs typeface="Times New Roman" pitchFamily="18" charset="0"/>
              </a:rPr>
              <a:t> Data helps analyze </a:t>
            </a:r>
            <a:r>
              <a:rPr dirty="0" err="1">
                <a:solidFill>
                  <a:schemeClr val="tx1"/>
                </a:solidFill>
                <a:latin typeface="Times New Roman" pitchFamily="18" charset="0"/>
                <a:cs typeface="Times New Roman" pitchFamily="18" charset="0"/>
              </a:rPr>
              <a:t>overspeed</a:t>
            </a:r>
            <a:r>
              <a:rPr dirty="0">
                <a:solidFill>
                  <a:schemeClr val="tx1"/>
                </a:solidFill>
                <a:latin typeface="Times New Roman" pitchFamily="18" charset="0"/>
                <a:cs typeface="Times New Roman" pitchFamily="18" charset="0"/>
              </a:rPr>
              <a:t> trends.</a:t>
            </a:r>
          </a:p>
          <a:p>
            <a:pPr>
              <a:buNone/>
            </a:pPr>
            <a:r>
              <a:rPr b="1" dirty="0">
                <a:solidFill>
                  <a:schemeClr val="tx1"/>
                </a:solidFill>
                <a:latin typeface="Times New Roman" pitchFamily="18" charset="0"/>
                <a:cs typeface="Times New Roman" pitchFamily="18" charset="0"/>
              </a:rPr>
              <a:t>Power Management:</a:t>
            </a:r>
          </a:p>
          <a:p>
            <a:r>
              <a:rPr dirty="0">
                <a:solidFill>
                  <a:schemeClr val="tx1"/>
                </a:solidFill>
                <a:latin typeface="Times New Roman" pitchFamily="18" charset="0"/>
                <a:cs typeface="Times New Roman" pitchFamily="18" charset="0"/>
              </a:rPr>
              <a:t> Solar panels provide sustainable energy.</a:t>
            </a:r>
          </a:p>
          <a:p>
            <a:r>
              <a:rPr dirty="0">
                <a:solidFill>
                  <a:schemeClr val="tx1"/>
                </a:solidFill>
                <a:latin typeface="Times New Roman" pitchFamily="18" charset="0"/>
                <a:cs typeface="Times New Roman" pitchFamily="18" charset="0"/>
              </a:rPr>
              <a:t> Battery backup ensures night operation.</a:t>
            </a:r>
          </a:p>
          <a:p>
            <a:endParaRPr dirty="0">
              <a:solidFill>
                <a:schemeClr val="tx1"/>
              </a:solidFill>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903373" y="1439346"/>
            <a:ext cx="4443178" cy="1701888"/>
          </a:xfrm>
        </p:spPr>
        <p:txBody>
          <a:bodyPr>
            <a:normAutofit fontScale="92500" lnSpcReduction="20000"/>
          </a:bodyPr>
          <a:lstStyle/>
          <a:p>
            <a:pPr marL="114300" indent="0">
              <a:buNone/>
            </a:pPr>
            <a:r>
              <a:rPr lang="en-US" altLang="en-US" b="1" dirty="0" err="1">
                <a:solidFill>
                  <a:schemeClr val="tx1"/>
                </a:solidFill>
                <a:latin typeface="Times New Roman" panose="02020603050405020304" pitchFamily="18" charset="0"/>
                <a:cs typeface="Times New Roman" panose="02020603050405020304" pitchFamily="18" charset="0"/>
              </a:rPr>
              <a:t>Gir</a:t>
            </a:r>
            <a:r>
              <a:rPr lang="en-US" altLang="en-US" b="1" dirty="0">
                <a:solidFill>
                  <a:schemeClr val="tx1"/>
                </a:solidFill>
                <a:latin typeface="Times New Roman" panose="02020603050405020304" pitchFamily="18" charset="0"/>
                <a:cs typeface="Times New Roman" panose="02020603050405020304" pitchFamily="18" charset="0"/>
              </a:rPr>
              <a:t> National Park (Gujarat): </a:t>
            </a:r>
            <a:r>
              <a:rPr lang="en-US" altLang="en-US" dirty="0">
                <a:solidFill>
                  <a:schemeClr val="tx1"/>
                </a:solidFill>
                <a:latin typeface="Times New Roman" panose="02020603050405020304" pitchFamily="18" charset="0"/>
                <a:cs typeface="Times New Roman" panose="02020603050405020304" pitchFamily="18" charset="0"/>
              </a:rPr>
              <a:t>The Gujarat forest department has launched a pilot project using advanced sensor-based speed monitoring systems and thermal and optical cameras for animal detection to prevent wildlife-vehicle collisions.</a:t>
            </a: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13</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810401" y="419100"/>
            <a:ext cx="4536149" cy="830997"/>
          </a:xfrm>
          <a:prstGeom prst="rect">
            <a:avLst/>
          </a:prstGeom>
          <a:noFill/>
        </p:spPr>
        <p:txBody>
          <a:bodyPr wrap="square" rtlCol="0">
            <a:spAutoFit/>
          </a:bodyPr>
          <a:lstStyle/>
          <a:p>
            <a:pPr algn="ctr"/>
            <a:r>
              <a:rPr lang="en-US" sz="2400" dirty="0">
                <a:ln/>
                <a:solidFill>
                  <a:schemeClr val="accent1"/>
                </a:solidFill>
                <a:effectLst>
                  <a:outerShdw blurRad="38100" dist="25400" dir="5400000" algn="ctr" rotWithShape="0">
                    <a:srgbClr val="6E747A">
                      <a:alpha val="43000"/>
                    </a:srgbClr>
                  </a:outerShdw>
                </a:effectLst>
              </a:rPr>
              <a:t>Existing Real-Life Implementation</a:t>
            </a:r>
          </a:p>
        </p:txBody>
      </p:sp>
      <p:pic>
        <p:nvPicPr>
          <p:cNvPr id="7" name="Picture 6" descr="A newspaper article of a road with a dog">
            <a:extLst>
              <a:ext uri="{FF2B5EF4-FFF2-40B4-BE49-F238E27FC236}">
                <a16:creationId xmlns:a16="http://schemas.microsoft.com/office/drawing/2014/main" id="{D3CB7183-3A36-7CBE-E784-F709503383C4}"/>
              </a:ext>
            </a:extLst>
          </p:cNvPr>
          <p:cNvPicPr>
            <a:picLocks noChangeAspect="1"/>
          </p:cNvPicPr>
          <p:nvPr/>
        </p:nvPicPr>
        <p:blipFill>
          <a:blip r:embed="rId3"/>
          <a:stretch>
            <a:fillRect/>
          </a:stretch>
        </p:blipFill>
        <p:spPr>
          <a:xfrm>
            <a:off x="5756244" y="0"/>
            <a:ext cx="3413998" cy="5143500"/>
          </a:xfrm>
          <a:prstGeom prst="rect">
            <a:avLst/>
          </a:prstGeom>
        </p:spPr>
      </p:pic>
    </p:spTree>
    <p:extLst>
      <p:ext uri="{BB962C8B-B14F-4D97-AF65-F5344CB8AC3E}">
        <p14:creationId xmlns:p14="http://schemas.microsoft.com/office/powerpoint/2010/main" val="1931002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1439345"/>
            <a:ext cx="8520600" cy="3416400"/>
          </a:xfrm>
        </p:spPr>
        <p:txBody>
          <a:bodyPr>
            <a:normAutofit lnSpcReduction="10000"/>
          </a:bodyPr>
          <a:lstStyle/>
          <a:p>
            <a:pPr>
              <a:lnSpc>
                <a:spcPct val="200000"/>
              </a:lnSpc>
            </a:pPr>
            <a:r>
              <a:rPr lang="en-US" altLang="en-US" dirty="0">
                <a:solidFill>
                  <a:schemeClr val="tx1"/>
                </a:solidFill>
                <a:latin typeface="Times New Roman" panose="02020603050405020304" pitchFamily="18" charset="0"/>
                <a:cs typeface="Times New Roman" panose="02020603050405020304" pitchFamily="18" charset="0"/>
              </a:rPr>
              <a:t>Accuracy of sensors and cameras in detecting wildlife and vehicles in varying conditions (like fog, heavy rain, or low light).</a:t>
            </a:r>
          </a:p>
          <a:p>
            <a:pPr>
              <a:lnSpc>
                <a:spcPct val="200000"/>
              </a:lnSpc>
            </a:pPr>
            <a:r>
              <a:rPr lang="en-US" altLang="en-US" dirty="0">
                <a:solidFill>
                  <a:schemeClr val="tx1"/>
                </a:solidFill>
                <a:latin typeface="Times New Roman" panose="02020603050405020304" pitchFamily="18" charset="0"/>
                <a:cs typeface="Times New Roman" panose="02020603050405020304" pitchFamily="18" charset="0"/>
              </a:rPr>
              <a:t>Effectiveness of alert systems in grabbing drivers' attention in time.</a:t>
            </a:r>
          </a:p>
          <a:p>
            <a:pPr>
              <a:lnSpc>
                <a:spcPct val="200000"/>
              </a:lnSpc>
            </a:pPr>
            <a:r>
              <a:rPr lang="en-US" altLang="en-US" dirty="0">
                <a:solidFill>
                  <a:schemeClr val="tx1"/>
                </a:solidFill>
                <a:latin typeface="Times New Roman" panose="02020603050405020304" pitchFamily="18" charset="0"/>
                <a:cs typeface="Times New Roman" panose="02020603050405020304" pitchFamily="18" charset="0"/>
              </a:rPr>
              <a:t>Reliability of ANPR cameras in logging </a:t>
            </a:r>
            <a:r>
              <a:rPr lang="en-US" altLang="en-US" dirty="0" err="1">
                <a:solidFill>
                  <a:schemeClr val="tx1"/>
                </a:solidFill>
                <a:latin typeface="Times New Roman" panose="02020603050405020304" pitchFamily="18" charset="0"/>
                <a:cs typeface="Times New Roman" panose="02020603050405020304" pitchFamily="18" charset="0"/>
              </a:rPr>
              <a:t>overspeeding</a:t>
            </a:r>
            <a:r>
              <a:rPr lang="en-US" altLang="en-US" dirty="0">
                <a:solidFill>
                  <a:schemeClr val="tx1"/>
                </a:solidFill>
                <a:latin typeface="Times New Roman" panose="02020603050405020304" pitchFamily="18" charset="0"/>
                <a:cs typeface="Times New Roman" panose="02020603050405020304" pitchFamily="18" charset="0"/>
              </a:rPr>
              <a:t> vehicles with varying number plate designs or conditions.</a:t>
            </a:r>
          </a:p>
          <a:p>
            <a:pPr>
              <a:lnSpc>
                <a:spcPct val="200000"/>
              </a:lnSpc>
            </a:pPr>
            <a:r>
              <a:rPr lang="en-US" altLang="en-US" dirty="0">
                <a:solidFill>
                  <a:schemeClr val="tx1"/>
                </a:solidFill>
                <a:latin typeface="Times New Roman" panose="02020603050405020304" pitchFamily="18" charset="0"/>
                <a:cs typeface="Times New Roman" panose="02020603050405020304" pitchFamily="18" charset="0"/>
              </a:rPr>
              <a:t>Maintenance and upkeep of tech in remote forest areas.</a:t>
            </a: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14</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971761" y="421917"/>
            <a:ext cx="5250445" cy="461665"/>
          </a:xfrm>
          <a:prstGeom prst="rect">
            <a:avLst/>
          </a:prstGeom>
          <a:noFill/>
        </p:spPr>
        <p:txBody>
          <a:bodyPr wrap="square" rtlCol="0">
            <a:spAutoFit/>
          </a:bodyPr>
          <a:lstStyle/>
          <a:p>
            <a:r>
              <a:rPr lang="en-US" sz="2400" dirty="0">
                <a:ln/>
                <a:solidFill>
                  <a:schemeClr val="accent1"/>
                </a:solidFill>
                <a:effectLst>
                  <a:outerShdw blurRad="38100" dist="25400" dir="5400000" algn="ctr" rotWithShape="0">
                    <a:srgbClr val="6E747A">
                      <a:alpha val="43000"/>
                    </a:srgbClr>
                  </a:outerShdw>
                </a:effectLst>
              </a:rPr>
              <a:t>Limitations of Existing Methodology</a:t>
            </a:r>
          </a:p>
        </p:txBody>
      </p:sp>
    </p:spTree>
    <p:extLst>
      <p:ext uri="{BB962C8B-B14F-4D97-AF65-F5344CB8AC3E}">
        <p14:creationId xmlns:p14="http://schemas.microsoft.com/office/powerpoint/2010/main" val="1687684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1439345"/>
            <a:ext cx="8520600" cy="3416400"/>
          </a:xfrm>
        </p:spPr>
        <p:txBody>
          <a:bodyPr>
            <a:normAutofit lnSpcReduction="10000"/>
          </a:bodyPr>
          <a:lstStyle/>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Multi-Modal Alerts: </a:t>
            </a:r>
            <a:r>
              <a:rPr lang="en-US" altLang="en-US" dirty="0">
                <a:solidFill>
                  <a:schemeClr val="tx1"/>
                </a:solidFill>
                <a:latin typeface="Times New Roman" panose="02020603050405020304" pitchFamily="18" charset="0"/>
                <a:cs typeface="Times New Roman" panose="02020603050405020304" pitchFamily="18" charset="0"/>
              </a:rPr>
              <a:t>Implement alerts that combine visual, auditory, and tactile cues to grab drivers attention effectively.</a:t>
            </a: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Integration with Existing Infrastructure: </a:t>
            </a:r>
            <a:r>
              <a:rPr lang="en-US" altLang="en-US" dirty="0">
                <a:solidFill>
                  <a:schemeClr val="tx1"/>
                </a:solidFill>
                <a:latin typeface="Times New Roman" panose="02020603050405020304" pitchFamily="18" charset="0"/>
                <a:cs typeface="Times New Roman" panose="02020603050405020304" pitchFamily="18" charset="0"/>
              </a:rPr>
              <a:t>Integrate speed monitoring systems with existing infrastructure, such as traffic management systems.</a:t>
            </a: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Data-Driven Insights: </a:t>
            </a:r>
            <a:r>
              <a:rPr lang="en-US" altLang="en-US" dirty="0">
                <a:solidFill>
                  <a:schemeClr val="tx1"/>
                </a:solidFill>
                <a:latin typeface="Times New Roman" panose="02020603050405020304" pitchFamily="18" charset="0"/>
                <a:cs typeface="Times New Roman" panose="02020603050405020304" pitchFamily="18" charset="0"/>
              </a:rPr>
              <a:t>Analyze data from speed monitoring systems to gain insights on traffic patterns and wildlife behavior.</a:t>
            </a:r>
          </a:p>
          <a:p>
            <a:pPr>
              <a:lnSpc>
                <a:spcPct val="150000"/>
              </a:lnSpc>
            </a:pPr>
            <a:r>
              <a:rPr lang="en-US" altLang="en-US" b="1" dirty="0">
                <a:solidFill>
                  <a:schemeClr val="tx1"/>
                </a:solidFill>
                <a:latin typeface="Times New Roman" panose="02020603050405020304" pitchFamily="18" charset="0"/>
                <a:cs typeface="Times New Roman" panose="02020603050405020304" pitchFamily="18" charset="0"/>
              </a:rPr>
              <a:t>Regular Calibration:</a:t>
            </a:r>
            <a:r>
              <a:rPr lang="en-US" altLang="en-US" dirty="0">
                <a:solidFill>
                  <a:schemeClr val="tx1"/>
                </a:solidFill>
                <a:latin typeface="Times New Roman" panose="02020603050405020304" pitchFamily="18" charset="0"/>
                <a:cs typeface="Times New Roman" panose="02020603050405020304" pitchFamily="18" charset="0"/>
              </a:rPr>
              <a:t> Regularly calibrate sensors to ensure optimal performance and accuracy.</a:t>
            </a: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15</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971768" y="450090"/>
            <a:ext cx="4697506" cy="461665"/>
          </a:xfrm>
          <a:prstGeom prst="rect">
            <a:avLst/>
          </a:prstGeom>
          <a:noFill/>
        </p:spPr>
        <p:txBody>
          <a:bodyPr wrap="square" rtlCol="0">
            <a:spAutoFit/>
          </a:bodyPr>
          <a:lstStyle/>
          <a:p>
            <a:r>
              <a:rPr lang="en-US" sz="2400" dirty="0">
                <a:ln/>
                <a:solidFill>
                  <a:schemeClr val="accent1"/>
                </a:solidFill>
                <a:effectLst>
                  <a:outerShdw blurRad="38100" dist="25400" dir="5400000" algn="ctr" rotWithShape="0">
                    <a:srgbClr val="6E747A">
                      <a:alpha val="43000"/>
                    </a:srgbClr>
                  </a:outerShdw>
                </a:effectLst>
              </a:rPr>
              <a:t>Overcome of our project</a:t>
            </a:r>
          </a:p>
        </p:txBody>
      </p:sp>
    </p:spTree>
    <p:extLst>
      <p:ext uri="{BB962C8B-B14F-4D97-AF65-F5344CB8AC3E}">
        <p14:creationId xmlns:p14="http://schemas.microsoft.com/office/powerpoint/2010/main" val="1509875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1439345"/>
            <a:ext cx="8520600" cy="3416400"/>
          </a:xfrm>
        </p:spPr>
        <p:txBody>
          <a:bodyPr>
            <a:normAutofit/>
          </a:bodyPr>
          <a:lstStyle/>
          <a:p>
            <a:pPr>
              <a:lnSpc>
                <a:spcPct val="150000"/>
              </a:lnSpc>
            </a:pPr>
            <a:r>
              <a:rPr lang="en-US" altLang="en-US" dirty="0">
                <a:solidFill>
                  <a:schemeClr val="tx1"/>
                </a:solidFill>
              </a:rPr>
              <a:t>Prevents wildlife accidents by enforcing </a:t>
            </a:r>
            <a:r>
              <a:rPr lang="en-US" altLang="en-US" dirty="0">
                <a:solidFill>
                  <a:schemeClr val="accent4">
                    <a:lumMod val="75000"/>
                  </a:schemeClr>
                </a:solidFill>
              </a:rPr>
              <a:t>speed limits</a:t>
            </a:r>
            <a:r>
              <a:rPr lang="en-US" altLang="en-US" dirty="0">
                <a:solidFill>
                  <a:schemeClr val="tx1"/>
                </a:solidFill>
              </a:rPr>
              <a:t>.</a:t>
            </a:r>
          </a:p>
          <a:p>
            <a:pPr>
              <a:lnSpc>
                <a:spcPct val="150000"/>
              </a:lnSpc>
            </a:pPr>
            <a:r>
              <a:rPr lang="en-US" altLang="en-US" dirty="0">
                <a:solidFill>
                  <a:schemeClr val="accent4">
                    <a:lumMod val="75000"/>
                  </a:schemeClr>
                </a:solidFill>
              </a:rPr>
              <a:t>Low-cost </a:t>
            </a:r>
            <a:r>
              <a:rPr lang="en-US" altLang="en-US" dirty="0">
                <a:solidFill>
                  <a:schemeClr val="tx1"/>
                </a:solidFill>
              </a:rPr>
              <a:t>and </a:t>
            </a:r>
            <a:r>
              <a:rPr lang="en-US" altLang="en-US" dirty="0">
                <a:solidFill>
                  <a:schemeClr val="accent4">
                    <a:lumMod val="75000"/>
                  </a:schemeClr>
                </a:solidFill>
              </a:rPr>
              <a:t>easy-to-deploy</a:t>
            </a:r>
            <a:r>
              <a:rPr lang="en-US" altLang="en-US" dirty="0">
                <a:solidFill>
                  <a:schemeClr val="tx1"/>
                </a:solidFill>
              </a:rPr>
              <a:t> solution compared to radar systems.</a:t>
            </a:r>
          </a:p>
          <a:p>
            <a:pPr>
              <a:lnSpc>
                <a:spcPct val="150000"/>
              </a:lnSpc>
            </a:pPr>
            <a:r>
              <a:rPr lang="en-US" altLang="en-US" dirty="0">
                <a:solidFill>
                  <a:schemeClr val="tx1"/>
                </a:solidFill>
              </a:rPr>
              <a:t>Real-time monitoring and alert system.</a:t>
            </a:r>
          </a:p>
          <a:p>
            <a:pPr>
              <a:lnSpc>
                <a:spcPct val="150000"/>
              </a:lnSpc>
            </a:pPr>
            <a:r>
              <a:rPr lang="en-US" altLang="en-US" dirty="0">
                <a:solidFill>
                  <a:schemeClr val="tx1"/>
                </a:solidFill>
              </a:rPr>
              <a:t>Environment-friendly with solar power option.</a:t>
            </a:r>
          </a:p>
          <a:p>
            <a:pPr>
              <a:lnSpc>
                <a:spcPct val="150000"/>
              </a:lnSpc>
            </a:pPr>
            <a:r>
              <a:rPr lang="en-US" altLang="en-US" dirty="0">
                <a:solidFill>
                  <a:schemeClr val="tx1"/>
                </a:solidFill>
              </a:rPr>
              <a:t>Can be scaled for highways, villages, and other sensitive zones.</a:t>
            </a:r>
          </a:p>
          <a:p>
            <a:pPr>
              <a:lnSpc>
                <a:spcPct val="150000"/>
              </a:lnSpc>
            </a:pPr>
            <a:r>
              <a:rPr lang="en-US" altLang="en-US" dirty="0">
                <a:solidFill>
                  <a:schemeClr val="tx1"/>
                </a:solidFill>
              </a:rPr>
              <a:t>Reduces human-animal conflict, aiding conservation efforts.</a:t>
            </a:r>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16</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971773" y="421917"/>
            <a:ext cx="4600351" cy="461665"/>
          </a:xfrm>
          <a:prstGeom prst="rect">
            <a:avLst/>
          </a:prstGeom>
          <a:noFill/>
        </p:spPr>
        <p:txBody>
          <a:bodyPr wrap="square" rtlCol="0">
            <a:spAutoFit/>
          </a:bodyPr>
          <a:lstStyle/>
          <a:p>
            <a:r>
              <a:rPr lang="en-US" sz="2400" dirty="0">
                <a:ln/>
                <a:solidFill>
                  <a:schemeClr val="accent1"/>
                </a:solidFill>
                <a:effectLst>
                  <a:outerShdw blurRad="38100" dist="25400" dir="5400000" algn="ctr" rotWithShape="0">
                    <a:srgbClr val="6E747A">
                      <a:alpha val="43000"/>
                    </a:srgbClr>
                  </a:outerShdw>
                </a:effectLst>
              </a:rPr>
              <a:t>Advantages of our Project</a:t>
            </a:r>
          </a:p>
        </p:txBody>
      </p:sp>
    </p:spTree>
    <p:extLst>
      <p:ext uri="{BB962C8B-B14F-4D97-AF65-F5344CB8AC3E}">
        <p14:creationId xmlns:p14="http://schemas.microsoft.com/office/powerpoint/2010/main" val="110841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128D3E70-7A03-3674-1BCF-005689651B13}"/>
              </a:ext>
            </a:extLst>
          </p:cNvPr>
          <p:cNvGraphicFramePr>
            <a:graphicFrameLocks noGrp="1"/>
          </p:cNvGraphicFramePr>
          <p:nvPr>
            <p:extLst>
              <p:ext uri="{D42A27DB-BD31-4B8C-83A1-F6EECF244321}">
                <p14:modId xmlns:p14="http://schemas.microsoft.com/office/powerpoint/2010/main" val="931094017"/>
              </p:ext>
            </p:extLst>
          </p:nvPr>
        </p:nvGraphicFramePr>
        <p:xfrm>
          <a:off x="385482" y="1098876"/>
          <a:ext cx="8023408" cy="3746688"/>
        </p:xfrm>
        <a:graphic>
          <a:graphicData uri="http://schemas.openxmlformats.org/drawingml/2006/table">
            <a:tbl>
              <a:tblPr/>
              <a:tblGrid>
                <a:gridCol w="1002926">
                  <a:extLst>
                    <a:ext uri="{9D8B030D-6E8A-4147-A177-3AD203B41FA5}">
                      <a16:colId xmlns:a16="http://schemas.microsoft.com/office/drawing/2014/main" val="2023587368"/>
                    </a:ext>
                  </a:extLst>
                </a:gridCol>
                <a:gridCol w="1002926">
                  <a:extLst>
                    <a:ext uri="{9D8B030D-6E8A-4147-A177-3AD203B41FA5}">
                      <a16:colId xmlns:a16="http://schemas.microsoft.com/office/drawing/2014/main" val="3337223548"/>
                    </a:ext>
                  </a:extLst>
                </a:gridCol>
                <a:gridCol w="1002926">
                  <a:extLst>
                    <a:ext uri="{9D8B030D-6E8A-4147-A177-3AD203B41FA5}">
                      <a16:colId xmlns:a16="http://schemas.microsoft.com/office/drawing/2014/main" val="1555559723"/>
                    </a:ext>
                  </a:extLst>
                </a:gridCol>
                <a:gridCol w="1002926">
                  <a:extLst>
                    <a:ext uri="{9D8B030D-6E8A-4147-A177-3AD203B41FA5}">
                      <a16:colId xmlns:a16="http://schemas.microsoft.com/office/drawing/2014/main" val="3005473603"/>
                    </a:ext>
                  </a:extLst>
                </a:gridCol>
                <a:gridCol w="1002926">
                  <a:extLst>
                    <a:ext uri="{9D8B030D-6E8A-4147-A177-3AD203B41FA5}">
                      <a16:colId xmlns:a16="http://schemas.microsoft.com/office/drawing/2014/main" val="46187669"/>
                    </a:ext>
                  </a:extLst>
                </a:gridCol>
                <a:gridCol w="1002926">
                  <a:extLst>
                    <a:ext uri="{9D8B030D-6E8A-4147-A177-3AD203B41FA5}">
                      <a16:colId xmlns:a16="http://schemas.microsoft.com/office/drawing/2014/main" val="641220345"/>
                    </a:ext>
                  </a:extLst>
                </a:gridCol>
                <a:gridCol w="1002926">
                  <a:extLst>
                    <a:ext uri="{9D8B030D-6E8A-4147-A177-3AD203B41FA5}">
                      <a16:colId xmlns:a16="http://schemas.microsoft.com/office/drawing/2014/main" val="1668876397"/>
                    </a:ext>
                  </a:extLst>
                </a:gridCol>
                <a:gridCol w="1002926">
                  <a:extLst>
                    <a:ext uri="{9D8B030D-6E8A-4147-A177-3AD203B41FA5}">
                      <a16:colId xmlns:a16="http://schemas.microsoft.com/office/drawing/2014/main" val="4021778412"/>
                    </a:ext>
                  </a:extLst>
                </a:gridCol>
              </a:tblGrid>
              <a:tr h="269260">
                <a:tc>
                  <a:txBody>
                    <a:bodyPr/>
                    <a:lstStyle/>
                    <a:p>
                      <a:r>
                        <a:rPr lang="en-US" sz="900" b="1" dirty="0"/>
                        <a:t>Sl. No</a:t>
                      </a:r>
                      <a:endParaRPr lang="en-US"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a:t>Author Name &amp; Year</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a:t>Study Area / Journal</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a:t>Title of the Paper</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a:t>Advantages / Key Findings</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a:t>Limitations</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a:t>Future Work / Suggestions</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a:t>Link (for Reference)</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2672405"/>
                  </a:ext>
                </a:extLst>
              </a:tr>
              <a:tr h="1305350">
                <a:tc>
                  <a:txBody>
                    <a:bodyPr/>
                    <a:lstStyle/>
                    <a:p>
                      <a:r>
                        <a:rPr lang="en-US" sz="900" dirty="0"/>
                        <a:t>1</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nb-NO" sz="900" b="1" dirty="0"/>
                        <a:t>Knyva, M. et al. (2023)</a:t>
                      </a:r>
                      <a:endParaRPr lang="nb-NO"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i="1"/>
                        <a:t>IEEE Access Journal</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i="1" dirty="0"/>
                        <a:t>IoT Sensor Network for Wild-Animal Detection Near Roads</a:t>
                      </a:r>
                      <a:endParaRPr lang="en-US"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Developed a low-power IoT sensor network using ultrasonic sensors and wireless modules for real-time wildlife detection; achieved &gt;90% detection for large animals.</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Limited range for small animals; performance drops during heavy rain or dense foliage.</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Integrate thermal imaging and AI-based classification for better detection accuracy.</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dirty="0">
                          <a:hlinkClick r:id="rId2"/>
                        </a:rPr>
                        <a:t>IEEE Xplore Link</a:t>
                      </a:r>
                      <a:endParaRPr lang="en-US"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9038808"/>
                  </a:ext>
                </a:extLst>
              </a:tr>
              <a:tr h="787305">
                <a:tc>
                  <a:txBody>
                    <a:bodyPr/>
                    <a:lstStyle/>
                    <a:p>
                      <a:r>
                        <a:rPr lang="en-US" sz="900"/>
                        <a:t>2</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a-DK" sz="900" b="1" dirty="0"/>
                        <a:t>Chen, J. et al. (2022)</a:t>
                      </a:r>
                      <a:endParaRPr lang="da-DK"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i="1" dirty="0"/>
                        <a:t>Sensors (MDPI)</a:t>
                      </a:r>
                      <a:endParaRPr lang="en-US"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i="1" dirty="0"/>
                        <a:t>Deer Crossing Road Detection with Roadside LiDAR Sensor</a:t>
                      </a:r>
                      <a:endParaRPr lang="en-US"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Demonstrated LiDAR’s capability for detecting and tracking deer up to 30 m range; robust under low light.</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High cost of LiDAR units and complex data processing pipeline.</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Use of hybrid LiDAR + camera system to balance cost and performance.</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dirty="0">
                          <a:hlinkClick r:id="rId3"/>
                        </a:rPr>
                        <a:t>MDPI Sensors</a:t>
                      </a:r>
                      <a:endParaRPr lang="en-US"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5496263"/>
                  </a:ext>
                </a:extLst>
              </a:tr>
              <a:tr h="1046328">
                <a:tc>
                  <a:txBody>
                    <a:bodyPr/>
                    <a:lstStyle/>
                    <a:p>
                      <a:r>
                        <a:rPr lang="en-US" sz="900" dirty="0"/>
                        <a:t>3</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a-DK" sz="900" b="1" dirty="0"/>
                        <a:t>Huijser, M.P. et al. (2021)</a:t>
                      </a:r>
                      <a:endParaRPr lang="da-DK"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i="1"/>
                        <a:t>Western Transportation Institute Report</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i="1"/>
                        <a:t>Evaluation of Animal Detection Systems for Wildlife-Vehicle Collision Reduction</a:t>
                      </a:r>
                      <a:endParaRPr lang="en-US" sz="90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Field-tested radar and infrared detection systems; found dynamic warning signs reduce vehicle speed and collision rates significantly.</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False alarms from vegetation and small animals caused driver desensitization.</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a:t>Improve machine learning filtering and conduct long-term maintenance studies.</a:t>
                      </a:r>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dirty="0">
                          <a:hlinkClick r:id="rId4"/>
                        </a:rPr>
                        <a:t>WTI Report</a:t>
                      </a:r>
                      <a:endParaRPr lang="en-US" sz="900" dirty="0"/>
                    </a:p>
                  </a:txBody>
                  <a:tcPr marL="10842" marR="10842" marT="5421" marB="5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3218269"/>
                  </a:ext>
                </a:extLst>
              </a:tr>
            </a:tbl>
          </a:graphicData>
        </a:graphic>
      </p:graphicFrame>
      <p:pic>
        <p:nvPicPr>
          <p:cNvPr id="2" name="Picture 1" descr="https://encrypted-tbn0.gstatic.com/images?q=tbn:ANd9GcQdAoy8HAYiGwgqBMeq0EtfxKBc5i9totR_W7yOXHEosxAvJ3u6k6r7MVNRo_M3U1QAJMc&amp;usqp=CAU">
            <a:extLst>
              <a:ext uri="{FF2B5EF4-FFF2-40B4-BE49-F238E27FC236}">
                <a16:creationId xmlns:a16="http://schemas.microsoft.com/office/drawing/2014/main" id="{5E258563-5F6A-E229-A0C4-70B25AB495AF}"/>
              </a:ext>
            </a:extLst>
          </p:cNvPr>
          <p:cNvPicPr>
            <a:picLocks noChangeAspect="1" noChangeArrowheads="1"/>
          </p:cNvPicPr>
          <p:nvPr/>
        </p:nvPicPr>
        <p:blipFill>
          <a:blip r:embed="rId5"/>
          <a:srcRect/>
          <a:stretch>
            <a:fillRect/>
          </a:stretch>
        </p:blipFill>
        <p:spPr bwMode="auto">
          <a:xfrm>
            <a:off x="0" y="0"/>
            <a:ext cx="770965" cy="900181"/>
          </a:xfrm>
          <a:prstGeom prst="rect">
            <a:avLst/>
          </a:prstGeom>
          <a:noFill/>
        </p:spPr>
      </p:pic>
      <p:sp>
        <p:nvSpPr>
          <p:cNvPr id="4" name="TextBox 3">
            <a:extLst>
              <a:ext uri="{FF2B5EF4-FFF2-40B4-BE49-F238E27FC236}">
                <a16:creationId xmlns:a16="http://schemas.microsoft.com/office/drawing/2014/main" id="{6F1F1999-6017-F9C2-9B9B-F913E8BF75E2}"/>
              </a:ext>
            </a:extLst>
          </p:cNvPr>
          <p:cNvSpPr txBox="1"/>
          <p:nvPr/>
        </p:nvSpPr>
        <p:spPr>
          <a:xfrm>
            <a:off x="957263" y="296201"/>
            <a:ext cx="4572000" cy="461665"/>
          </a:xfrm>
          <a:prstGeom prst="rect">
            <a:avLst/>
          </a:prstGeom>
          <a:noFill/>
        </p:spPr>
        <p:txBody>
          <a:bodyPr wrap="square">
            <a:spAutoFit/>
          </a:bodyPr>
          <a:lstStyle/>
          <a:p>
            <a:r>
              <a:rPr lang="en-US" sz="2400" dirty="0">
                <a:ln/>
                <a:solidFill>
                  <a:schemeClr val="accent1"/>
                </a:solidFill>
                <a:effectLst>
                  <a:outerShdw blurRad="38100" dist="25400" dir="5400000" algn="ctr" rotWithShape="0">
                    <a:srgbClr val="6E747A">
                      <a:alpha val="43000"/>
                    </a:srgbClr>
                  </a:outerShdw>
                </a:effectLst>
              </a:rPr>
              <a:t>Review of literature</a:t>
            </a:r>
            <a:endParaRPr lang="en-IN" sz="2400" dirty="0"/>
          </a:p>
        </p:txBody>
      </p:sp>
    </p:spTree>
    <p:extLst>
      <p:ext uri="{BB962C8B-B14F-4D97-AF65-F5344CB8AC3E}">
        <p14:creationId xmlns:p14="http://schemas.microsoft.com/office/powerpoint/2010/main" val="1672477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015" y="212914"/>
            <a:ext cx="8520600" cy="572700"/>
          </a:xfrm>
        </p:spPr>
        <p:txBody>
          <a:bodyPr>
            <a:normAutofit fontScale="90000"/>
          </a:bodyPr>
          <a:lstStyle/>
          <a:p>
            <a:r>
              <a:rPr lang="en-GB" b="1" dirty="0">
                <a:solidFill>
                  <a:schemeClr val="accent1">
                    <a:lumMod val="75000"/>
                  </a:schemeClr>
                </a:solidFill>
                <a:latin typeface="Book Antiqua" panose="02040602050305030304" pitchFamily="18" charset="0"/>
                <a:cs typeface="Times New Roman" panose="02020603050405020304" pitchFamily="18" charset="0"/>
              </a:rPr>
              <a:t> </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pic>
        <p:nvPicPr>
          <p:cNvPr id="5" name="Picture 1" descr="https://encrypted-tbn0.gstatic.com/images?q=tbn:ANd9GcQdAoy8HAYiGwgqBMeq0EtfxKBc5i9totR_W7yOXHEosxAvJ3u6k6r7MVNRo_M3U1QAJMc&amp;usqp=CAU"/>
          <p:cNvPicPr>
            <a:picLocks noChangeAspect="1" noChangeArrowheads="1"/>
          </p:cNvPicPr>
          <p:nvPr/>
        </p:nvPicPr>
        <p:blipFill>
          <a:blip r:embed="rId2"/>
          <a:srcRect/>
          <a:stretch>
            <a:fillRect/>
          </a:stretch>
        </p:blipFill>
        <p:spPr bwMode="auto">
          <a:xfrm>
            <a:off x="0" y="0"/>
            <a:ext cx="770965" cy="900181"/>
          </a:xfrm>
          <a:prstGeom prst="rect">
            <a:avLst/>
          </a:prstGeom>
          <a:noFill/>
        </p:spPr>
      </p:pic>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18</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2468880" y="2020376"/>
            <a:ext cx="4206240" cy="769441"/>
          </a:xfrm>
          <a:prstGeom prst="rect">
            <a:avLst/>
          </a:prstGeom>
          <a:noFill/>
        </p:spPr>
        <p:txBody>
          <a:bodyPr wrap="square" rtlCol="0">
            <a:spAutoFit/>
          </a:bodyPr>
          <a:lstStyle/>
          <a:p>
            <a:r>
              <a:rPr lang="en-US" sz="4400" dirty="0">
                <a:ln/>
                <a:solidFill>
                  <a:schemeClr val="accent1"/>
                </a:solidFill>
                <a:effectLst>
                  <a:outerShdw blurRad="38100" dist="25400" dir="5400000" algn="ctr" rotWithShape="0">
                    <a:srgbClr val="6E747A">
                      <a:alpha val="43000"/>
                    </a:srgbClr>
                  </a:outerShdw>
                </a:effectLst>
                <a:latin typeface="Algerian" panose="04020705040A02060702" pitchFamily="82" charset="0"/>
              </a:rPr>
              <a:t>Thankyou!</a:t>
            </a:r>
          </a:p>
        </p:txBody>
      </p:sp>
    </p:spTree>
    <p:extLst>
      <p:ext uri="{BB962C8B-B14F-4D97-AF65-F5344CB8AC3E}">
        <p14:creationId xmlns:p14="http://schemas.microsoft.com/office/powerpoint/2010/main" val="394754892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TotalTime>
  <Words>1073</Words>
  <Application>Microsoft Office PowerPoint</Application>
  <PresentationFormat>On-screen Show (16:9)</PresentationFormat>
  <Paragraphs>147</Paragraphs>
  <Slides>18</Slides>
  <Notes>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Algerian</vt:lpstr>
      <vt:lpstr>Arial</vt:lpstr>
      <vt:lpstr>Book Antiqua</vt:lpstr>
      <vt:lpstr>Times New Roman</vt:lpstr>
      <vt:lpstr>Simple Light</vt:lpstr>
      <vt:lpstr>PowerPoint Presentation</vt:lpstr>
      <vt:lpstr>  </vt:lpstr>
      <vt:lpstr>  </vt:lpstr>
      <vt:lpstr>  </vt:lpstr>
      <vt:lpstr>  </vt:lpstr>
      <vt:lpstr>Visual Explanation </vt:lpstr>
      <vt:lpstr>   Objectives</vt:lpstr>
      <vt:lpstr>  </vt:lpstr>
      <vt:lpstr>  </vt:lpstr>
      <vt:lpstr>  </vt:lpstr>
      <vt:lpstr>System Operation and Setup</vt:lpstr>
      <vt:lpstr>Alert, Data, and Power Management</vt:lpstr>
      <vt:lpstr>  </vt:lpstr>
      <vt:lpstr>  </vt:lpstr>
      <vt:lpstr>  </vt:lpstr>
      <vt:lpstr>  </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Doctoral Committee Meeting Department Of Civil Engineering</dc:title>
  <dc:creator>ELCOT</dc:creator>
  <cp:lastModifiedBy>NITHISHKUMAR S</cp:lastModifiedBy>
  <cp:revision>187</cp:revision>
  <dcterms:created xsi:type="dcterms:W3CDTF">2025-09-01T14:33:59Z</dcterms:created>
  <dcterms:modified xsi:type="dcterms:W3CDTF">2026-07-17T17:06:09Z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F08CD7793DC34630B474AB06E33B9D43_12</vt:lpwstr>
  </property>
  <property fmtid="{D5CDD505-2E9C-101B-9397-08002B2CF9AE}" pid="3" name="KSOProductBuildVer">
    <vt:lpwstr>1033-12.2.0.21931</vt:lpwstr>
  </property>
</Properties>
</file>